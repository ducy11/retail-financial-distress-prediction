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Poppins" panose="00000500000000000000" pitchFamily="2" charset="0"/>
      <p:regular r:id="rId18"/>
    </p:embeddedFont>
    <p:embeddedFont>
      <p:font typeface="Poppins Bold" panose="020B0604020202020204" charset="0"/>
      <p:regular r:id="rId19"/>
    </p:embeddedFont>
    <p:embeddedFont>
      <p:font typeface="Raleway Bold" panose="020B0604020202020204" charset="0"/>
      <p:regular r:id="rId20"/>
    </p:embeddedFont>
    <p:embeddedFont>
      <p:font typeface="Raleway Ultra-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8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svg"/><Relationship Id="rId7" Type="http://schemas.openxmlformats.org/officeDocument/2006/relationships/image" Target="../media/image43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25.png"/><Relationship Id="rId7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9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svg"/><Relationship Id="rId7" Type="http://schemas.openxmlformats.org/officeDocument/2006/relationships/image" Target="../media/image54.svg"/><Relationship Id="rId12" Type="http://schemas.openxmlformats.org/officeDocument/2006/relationships/image" Target="../media/image59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sv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7" Type="http://schemas.openxmlformats.org/officeDocument/2006/relationships/image" Target="../media/image66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327387">
            <a:off x="10644131" y="3521331"/>
            <a:ext cx="4932952" cy="7034513"/>
          </a:xfrm>
          <a:custGeom>
            <a:avLst/>
            <a:gdLst/>
            <a:ahLst/>
            <a:cxnLst/>
            <a:rect l="l" t="t" r="r" b="b"/>
            <a:pathLst>
              <a:path w="4932952" h="7034513">
                <a:moveTo>
                  <a:pt x="0" y="0"/>
                </a:moveTo>
                <a:lnTo>
                  <a:pt x="4932952" y="0"/>
                </a:lnTo>
                <a:lnTo>
                  <a:pt x="4932952" y="7034513"/>
                </a:lnTo>
                <a:lnTo>
                  <a:pt x="0" y="70345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972204" y="-688416"/>
            <a:ext cx="10875868" cy="9811755"/>
          </a:xfrm>
          <a:custGeom>
            <a:avLst/>
            <a:gdLst/>
            <a:ahLst/>
            <a:cxnLst/>
            <a:rect l="l" t="t" r="r" b="b"/>
            <a:pathLst>
              <a:path w="10875868" h="9811755">
                <a:moveTo>
                  <a:pt x="0" y="0"/>
                </a:moveTo>
                <a:lnTo>
                  <a:pt x="10875868" y="0"/>
                </a:lnTo>
                <a:lnTo>
                  <a:pt x="10875868" y="9811754"/>
                </a:lnTo>
                <a:lnTo>
                  <a:pt x="0" y="9811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10345902" y="-497476"/>
            <a:ext cx="8394299" cy="8709210"/>
            <a:chOff x="0" y="0"/>
            <a:chExt cx="808467" cy="8387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08467" cy="838797"/>
            </a:xfrm>
            <a:custGeom>
              <a:avLst/>
              <a:gdLst/>
              <a:ahLst/>
              <a:cxnLst/>
              <a:rect l="l" t="t" r="r" b="b"/>
              <a:pathLst>
                <a:path w="808467" h="838797">
                  <a:moveTo>
                    <a:pt x="58104" y="0"/>
                  </a:moveTo>
                  <a:lnTo>
                    <a:pt x="750363" y="0"/>
                  </a:lnTo>
                  <a:cubicBezTo>
                    <a:pt x="782453" y="0"/>
                    <a:pt x="808467" y="26014"/>
                    <a:pt x="808467" y="58104"/>
                  </a:cubicBezTo>
                  <a:lnTo>
                    <a:pt x="808467" y="780693"/>
                  </a:lnTo>
                  <a:cubicBezTo>
                    <a:pt x="808467" y="812783"/>
                    <a:pt x="782453" y="838797"/>
                    <a:pt x="750363" y="838797"/>
                  </a:cubicBezTo>
                  <a:lnTo>
                    <a:pt x="58104" y="838797"/>
                  </a:lnTo>
                  <a:cubicBezTo>
                    <a:pt x="26014" y="838797"/>
                    <a:pt x="0" y="812783"/>
                    <a:pt x="0" y="780693"/>
                  </a:cubicBezTo>
                  <a:lnTo>
                    <a:pt x="0" y="58104"/>
                  </a:lnTo>
                  <a:cubicBezTo>
                    <a:pt x="0" y="26014"/>
                    <a:pt x="26014" y="0"/>
                    <a:pt x="58104" y="0"/>
                  </a:cubicBezTo>
                  <a:close/>
                </a:path>
              </a:pathLst>
            </a:custGeom>
            <a:blipFill>
              <a:blip r:embed="rId5"/>
              <a:stretch>
                <a:fillRect l="-28383" r="-283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810853" y="8804773"/>
            <a:ext cx="6251343" cy="907054"/>
            <a:chOff x="0" y="0"/>
            <a:chExt cx="1646444" cy="23889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46444" cy="238895"/>
            </a:xfrm>
            <a:custGeom>
              <a:avLst/>
              <a:gdLst/>
              <a:ahLst/>
              <a:cxnLst/>
              <a:rect l="l" t="t" r="r" b="b"/>
              <a:pathLst>
                <a:path w="1646444" h="238895">
                  <a:moveTo>
                    <a:pt x="63160" y="0"/>
                  </a:moveTo>
                  <a:lnTo>
                    <a:pt x="1583284" y="0"/>
                  </a:lnTo>
                  <a:cubicBezTo>
                    <a:pt x="1600035" y="0"/>
                    <a:pt x="1616100" y="6654"/>
                    <a:pt x="1627945" y="18499"/>
                  </a:cubicBezTo>
                  <a:cubicBezTo>
                    <a:pt x="1639790" y="30344"/>
                    <a:pt x="1646444" y="46409"/>
                    <a:pt x="1646444" y="63160"/>
                  </a:cubicBezTo>
                  <a:lnTo>
                    <a:pt x="1646444" y="175734"/>
                  </a:lnTo>
                  <a:cubicBezTo>
                    <a:pt x="1646444" y="210617"/>
                    <a:pt x="1618166" y="238895"/>
                    <a:pt x="1583284" y="238895"/>
                  </a:cubicBezTo>
                  <a:lnTo>
                    <a:pt x="63160" y="238895"/>
                  </a:lnTo>
                  <a:cubicBezTo>
                    <a:pt x="46409" y="238895"/>
                    <a:pt x="30344" y="232240"/>
                    <a:pt x="18499" y="220396"/>
                  </a:cubicBezTo>
                  <a:cubicBezTo>
                    <a:pt x="6654" y="208551"/>
                    <a:pt x="0" y="192486"/>
                    <a:pt x="0" y="175734"/>
                  </a:cubicBezTo>
                  <a:lnTo>
                    <a:pt x="0" y="63160"/>
                  </a:lnTo>
                  <a:cubicBezTo>
                    <a:pt x="0" y="28278"/>
                    <a:pt x="28278" y="0"/>
                    <a:pt x="63160" y="0"/>
                  </a:cubicBezTo>
                  <a:close/>
                </a:path>
              </a:pathLst>
            </a:custGeom>
            <a:solidFill>
              <a:srgbClr val="DAF2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46444" cy="2865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3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850968" y="-347518"/>
            <a:ext cx="1879668" cy="1874969"/>
          </a:xfrm>
          <a:custGeom>
            <a:avLst/>
            <a:gdLst/>
            <a:ahLst/>
            <a:cxnLst/>
            <a:rect l="l" t="t" r="r" b="b"/>
            <a:pathLst>
              <a:path w="1879668" h="1874969">
                <a:moveTo>
                  <a:pt x="0" y="0"/>
                </a:moveTo>
                <a:lnTo>
                  <a:pt x="1879668" y="0"/>
                </a:lnTo>
                <a:lnTo>
                  <a:pt x="1879668" y="1874969"/>
                </a:lnTo>
                <a:lnTo>
                  <a:pt x="0" y="18749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TextBox 10"/>
          <p:cNvSpPr txBox="1"/>
          <p:nvPr/>
        </p:nvSpPr>
        <p:spPr>
          <a:xfrm>
            <a:off x="3758195" y="8116484"/>
            <a:ext cx="1985070" cy="551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43"/>
              </a:lnSpc>
              <a:spcBef>
                <a:spcPct val="0"/>
              </a:spcBef>
            </a:pPr>
            <a:r>
              <a:rPr lang="en-US" sz="3031" b="1" spc="49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TEAM 18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6712" y="905455"/>
            <a:ext cx="8423367" cy="65486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60"/>
              </a:lnSpc>
            </a:pPr>
            <a:r>
              <a:rPr lang="en-US" sz="7853" b="1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PREDICTING FINANCIAL DISTRESS IN US RETAILERS FROM SEC XBRL DISCLOSURES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49071" y="8938289"/>
            <a:ext cx="5883683" cy="61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3786" lvl="1" indent="-186893" algn="l">
              <a:lnSpc>
                <a:spcPts val="2423"/>
              </a:lnSpc>
              <a:buFont typeface="Arial"/>
              <a:buChar char="•"/>
            </a:pPr>
            <a:r>
              <a:rPr lang="en-US" sz="1731" b="1" spc="-34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Supervisor: M.Sc. Cap Dinh La Thang</a:t>
            </a:r>
          </a:p>
          <a:p>
            <a:pPr marL="373786" lvl="1" indent="-186893" algn="l">
              <a:lnSpc>
                <a:spcPts val="2423"/>
              </a:lnSpc>
              <a:buFont typeface="Arial"/>
              <a:buChar char="•"/>
            </a:pPr>
            <a:r>
              <a:rPr lang="en-US" sz="1731" b="1" spc="-34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Student: Nguyen Duc Y (ID: 25730094)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564548"/>
            <a:ext cx="7720695" cy="8579501"/>
            <a:chOff x="0" y="0"/>
            <a:chExt cx="2033434" cy="22596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3434" cy="2259622"/>
            </a:xfrm>
            <a:custGeom>
              <a:avLst/>
              <a:gdLst/>
              <a:ahLst/>
              <a:cxnLst/>
              <a:rect l="l" t="t" r="r" b="b"/>
              <a:pathLst>
                <a:path w="2033434" h="2259622">
                  <a:moveTo>
                    <a:pt x="51140" y="0"/>
                  </a:moveTo>
                  <a:lnTo>
                    <a:pt x="1982294" y="0"/>
                  </a:lnTo>
                  <a:cubicBezTo>
                    <a:pt x="2010538" y="0"/>
                    <a:pt x="2033434" y="22896"/>
                    <a:pt x="2033434" y="51140"/>
                  </a:cubicBezTo>
                  <a:lnTo>
                    <a:pt x="2033434" y="2208481"/>
                  </a:lnTo>
                  <a:cubicBezTo>
                    <a:pt x="2033434" y="2236725"/>
                    <a:pt x="2010538" y="2259622"/>
                    <a:pt x="1982294" y="2259622"/>
                  </a:cubicBezTo>
                  <a:lnTo>
                    <a:pt x="51140" y="2259622"/>
                  </a:lnTo>
                  <a:cubicBezTo>
                    <a:pt x="22896" y="2259622"/>
                    <a:pt x="0" y="2236725"/>
                    <a:pt x="0" y="2208481"/>
                  </a:cubicBezTo>
                  <a:lnTo>
                    <a:pt x="0" y="51140"/>
                  </a:lnTo>
                  <a:cubicBezTo>
                    <a:pt x="0" y="22896"/>
                    <a:pt x="22896" y="0"/>
                    <a:pt x="51140" y="0"/>
                  </a:cubicBezTo>
                  <a:close/>
                </a:path>
              </a:pathLst>
            </a:custGeom>
            <a:solidFill>
              <a:srgbClr val="DAF2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033434" cy="2326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19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064694" y="-484216"/>
            <a:ext cx="3388362" cy="2460798"/>
          </a:xfrm>
          <a:custGeom>
            <a:avLst/>
            <a:gdLst/>
            <a:ahLst/>
            <a:cxnLst/>
            <a:rect l="l" t="t" r="r" b="b"/>
            <a:pathLst>
              <a:path w="3388362" h="2460798">
                <a:moveTo>
                  <a:pt x="0" y="0"/>
                </a:moveTo>
                <a:lnTo>
                  <a:pt x="3388362" y="0"/>
                </a:lnTo>
                <a:lnTo>
                  <a:pt x="3388362" y="2460798"/>
                </a:lnTo>
                <a:lnTo>
                  <a:pt x="0" y="24607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9144000" y="1564548"/>
            <a:ext cx="8115300" cy="8579501"/>
            <a:chOff x="0" y="0"/>
            <a:chExt cx="2137363" cy="22596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37363" cy="2259622"/>
            </a:xfrm>
            <a:custGeom>
              <a:avLst/>
              <a:gdLst/>
              <a:ahLst/>
              <a:cxnLst/>
              <a:rect l="l" t="t" r="r" b="b"/>
              <a:pathLst>
                <a:path w="2137363" h="2259622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2210968"/>
                  </a:lnTo>
                  <a:cubicBezTo>
                    <a:pt x="2137363" y="2237839"/>
                    <a:pt x="2115580" y="2259622"/>
                    <a:pt x="2088710" y="2259622"/>
                  </a:cubicBezTo>
                  <a:lnTo>
                    <a:pt x="48654" y="2259622"/>
                  </a:lnTo>
                  <a:cubicBezTo>
                    <a:pt x="21783" y="2259622"/>
                    <a:pt x="0" y="2237839"/>
                    <a:pt x="0" y="2210968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DAF2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137363" cy="2326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25790" y="288938"/>
            <a:ext cx="14718655" cy="1002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29"/>
              </a:lnSpc>
              <a:spcBef>
                <a:spcPct val="0"/>
              </a:spcBef>
            </a:pPr>
            <a:r>
              <a:rPr lang="en-US" sz="6999" b="1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INPUT &amp;</a:t>
            </a:r>
            <a:r>
              <a:rPr lang="en-US" sz="6999" b="1" u="none" strike="noStrike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 OUTPUT SPECIFICATIONS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9489" y="2390689"/>
            <a:ext cx="7285590" cy="7315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16 Raw SEC XBRL Financial Items: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Quarterly 10-K &amp; 10-Q balance sheets and income statements across 8 retail chains, enforcing strict point-in-time timestamping (available_on ≤ as_of).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47 Multi-Window Engineered Ratios: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Derived across rolling windows (≤ 8 quarters): solvency, liquidity, profit margins, capital leverage, YoY changes, and historical min/max values.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Strict Out-of-Scope Boundaries: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Excludes contemporaneous market stock prices, macroeconomic indices, and credit agency ratings; strictly prohibits one-hot ticker encoding shortcuts.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6252" y="1606695"/>
            <a:ext cx="7285590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INPUT SPECIFICATION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58855" y="2390689"/>
            <a:ext cx="7285590" cy="6401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Binary Risk Classification: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Supervised label Y ∈ {0, 1}: 0 = Sound / Healthy; 1 = Impairment / Financial Distress in the subsequent forward quarter.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Calibrated Probability &amp; Audit Priority: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Continuous posterior P(distress) ∈ [0, 1] mapped to operational threshold t = 0.7879 (C(FN) = 5 · C(FP)) for audit escalation.</a:t>
            </a:r>
          </a:p>
          <a:p>
            <a:pPr marL="561341" lvl="1" indent="-280670" algn="l">
              <a:lnSpc>
                <a:spcPts val="3640"/>
              </a:lnSpc>
              <a:buFont typeface="Arial"/>
              <a:buChar char="•"/>
            </a:pPr>
            <a:r>
              <a:rPr lang="en-US" sz="26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Local Profile Explainability (SHAP): </a:t>
            </a: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Instance-level KernelSHAP feature attributions quantifying exact marginal contributions of liquidity, leverage, and cash burn toward each risk alert.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98710" y="1606695"/>
            <a:ext cx="7285590" cy="635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OUTPUT SPECIFICATION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68605" y="1436450"/>
            <a:ext cx="3554104" cy="3327349"/>
            <a:chOff x="0" y="0"/>
            <a:chExt cx="936060" cy="876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36060" cy="876339"/>
            </a:xfrm>
            <a:custGeom>
              <a:avLst/>
              <a:gdLst/>
              <a:ahLst/>
              <a:cxnLst/>
              <a:rect l="l" t="t" r="r" b="b"/>
              <a:pathLst>
                <a:path w="936060" h="876339">
                  <a:moveTo>
                    <a:pt x="0" y="0"/>
                  </a:moveTo>
                  <a:lnTo>
                    <a:pt x="936060" y="0"/>
                  </a:lnTo>
                  <a:lnTo>
                    <a:pt x="936060" y="876339"/>
                  </a:lnTo>
                  <a:lnTo>
                    <a:pt x="0" y="876339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936060" cy="89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332284" y="1436450"/>
            <a:ext cx="3554104" cy="3327349"/>
            <a:chOff x="0" y="0"/>
            <a:chExt cx="936060" cy="876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36060" cy="876339"/>
            </a:xfrm>
            <a:custGeom>
              <a:avLst/>
              <a:gdLst/>
              <a:ahLst/>
              <a:cxnLst/>
              <a:rect l="l" t="t" r="r" b="b"/>
              <a:pathLst>
                <a:path w="936060" h="876339">
                  <a:moveTo>
                    <a:pt x="0" y="0"/>
                  </a:moveTo>
                  <a:lnTo>
                    <a:pt x="936060" y="0"/>
                  </a:lnTo>
                  <a:lnTo>
                    <a:pt x="936060" y="876339"/>
                  </a:lnTo>
                  <a:lnTo>
                    <a:pt x="0" y="876339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936060" cy="89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485752" y="5068599"/>
            <a:ext cx="3163476" cy="4790607"/>
            <a:chOff x="0" y="0"/>
            <a:chExt cx="936060" cy="14175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6060" cy="1417522"/>
            </a:xfrm>
            <a:custGeom>
              <a:avLst/>
              <a:gdLst/>
              <a:ahLst/>
              <a:cxnLst/>
              <a:rect l="l" t="t" r="r" b="b"/>
              <a:pathLst>
                <a:path w="936060" h="1417522">
                  <a:moveTo>
                    <a:pt x="0" y="0"/>
                  </a:moveTo>
                  <a:lnTo>
                    <a:pt x="936060" y="0"/>
                  </a:lnTo>
                  <a:lnTo>
                    <a:pt x="936060" y="1417522"/>
                  </a:lnTo>
                  <a:lnTo>
                    <a:pt x="0" y="1417522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936060" cy="1436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07689" y="423179"/>
            <a:ext cx="1318496" cy="496084"/>
          </a:xfrm>
          <a:custGeom>
            <a:avLst/>
            <a:gdLst/>
            <a:ahLst/>
            <a:cxnLst/>
            <a:rect l="l" t="t" r="r" b="b"/>
            <a:pathLst>
              <a:path w="1318496" h="496084">
                <a:moveTo>
                  <a:pt x="0" y="0"/>
                </a:moveTo>
                <a:lnTo>
                  <a:pt x="1318496" y="0"/>
                </a:lnTo>
                <a:lnTo>
                  <a:pt x="1318496" y="496084"/>
                </a:lnTo>
                <a:lnTo>
                  <a:pt x="0" y="4960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2675309" y="1610140"/>
            <a:ext cx="888587" cy="861930"/>
          </a:xfrm>
          <a:custGeom>
            <a:avLst/>
            <a:gdLst/>
            <a:ahLst/>
            <a:cxnLst/>
            <a:rect l="l" t="t" r="r" b="b"/>
            <a:pathLst>
              <a:path w="888587" h="861930">
                <a:moveTo>
                  <a:pt x="0" y="0"/>
                </a:moveTo>
                <a:lnTo>
                  <a:pt x="888587" y="0"/>
                </a:lnTo>
                <a:lnTo>
                  <a:pt x="888587" y="861930"/>
                </a:lnTo>
                <a:lnTo>
                  <a:pt x="0" y="861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617620" y="1551046"/>
            <a:ext cx="1050811" cy="1050811"/>
          </a:xfrm>
          <a:custGeom>
            <a:avLst/>
            <a:gdLst/>
            <a:ahLst/>
            <a:cxnLst/>
            <a:rect l="l" t="t" r="r" b="b"/>
            <a:pathLst>
              <a:path w="1050811" h="1050811">
                <a:moveTo>
                  <a:pt x="0" y="0"/>
                </a:moveTo>
                <a:lnTo>
                  <a:pt x="1050811" y="0"/>
                </a:lnTo>
                <a:lnTo>
                  <a:pt x="1050811" y="1050811"/>
                </a:lnTo>
                <a:lnTo>
                  <a:pt x="0" y="10508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333950" y="5520320"/>
            <a:ext cx="1352681" cy="1352681"/>
          </a:xfrm>
          <a:custGeom>
            <a:avLst/>
            <a:gdLst/>
            <a:ahLst/>
            <a:cxnLst/>
            <a:rect l="l" t="t" r="r" b="b"/>
            <a:pathLst>
              <a:path w="1352681" h="1352681">
                <a:moveTo>
                  <a:pt x="0" y="0"/>
                </a:moveTo>
                <a:lnTo>
                  <a:pt x="1352680" y="0"/>
                </a:lnTo>
                <a:lnTo>
                  <a:pt x="1352680" y="1352680"/>
                </a:lnTo>
                <a:lnTo>
                  <a:pt x="0" y="13526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3401612" y="1436450"/>
            <a:ext cx="3554104" cy="3327349"/>
            <a:chOff x="0" y="0"/>
            <a:chExt cx="936060" cy="87633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36060" cy="876339"/>
            </a:xfrm>
            <a:custGeom>
              <a:avLst/>
              <a:gdLst/>
              <a:ahLst/>
              <a:cxnLst/>
              <a:rect l="l" t="t" r="r" b="b"/>
              <a:pathLst>
                <a:path w="936060" h="876339">
                  <a:moveTo>
                    <a:pt x="0" y="0"/>
                  </a:moveTo>
                  <a:lnTo>
                    <a:pt x="936060" y="0"/>
                  </a:lnTo>
                  <a:lnTo>
                    <a:pt x="936060" y="876339"/>
                  </a:lnTo>
                  <a:lnTo>
                    <a:pt x="0" y="876339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36060" cy="895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>
            <a:off x="4709596" y="1694309"/>
            <a:ext cx="907548" cy="907548"/>
          </a:xfrm>
          <a:custGeom>
            <a:avLst/>
            <a:gdLst/>
            <a:ahLst/>
            <a:cxnLst/>
            <a:rect l="l" t="t" r="r" b="b"/>
            <a:pathLst>
              <a:path w="907548" h="907548">
                <a:moveTo>
                  <a:pt x="0" y="0"/>
                </a:moveTo>
                <a:lnTo>
                  <a:pt x="907548" y="0"/>
                </a:lnTo>
                <a:lnTo>
                  <a:pt x="907548" y="907548"/>
                </a:lnTo>
                <a:lnTo>
                  <a:pt x="0" y="9075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5976628" y="5068599"/>
            <a:ext cx="3163476" cy="4790607"/>
            <a:chOff x="0" y="0"/>
            <a:chExt cx="936060" cy="141752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6060" cy="1417522"/>
            </a:xfrm>
            <a:custGeom>
              <a:avLst/>
              <a:gdLst/>
              <a:ahLst/>
              <a:cxnLst/>
              <a:rect l="l" t="t" r="r" b="b"/>
              <a:pathLst>
                <a:path w="936060" h="1417522">
                  <a:moveTo>
                    <a:pt x="0" y="0"/>
                  </a:moveTo>
                  <a:lnTo>
                    <a:pt x="936060" y="0"/>
                  </a:lnTo>
                  <a:lnTo>
                    <a:pt x="936060" y="1417522"/>
                  </a:lnTo>
                  <a:lnTo>
                    <a:pt x="0" y="1417522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36060" cy="1436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6847723" y="5557082"/>
            <a:ext cx="1421284" cy="1279156"/>
          </a:xfrm>
          <a:custGeom>
            <a:avLst/>
            <a:gdLst/>
            <a:ahLst/>
            <a:cxnLst/>
            <a:rect l="l" t="t" r="r" b="b"/>
            <a:pathLst>
              <a:path w="1421284" h="1279156">
                <a:moveTo>
                  <a:pt x="0" y="0"/>
                </a:moveTo>
                <a:lnTo>
                  <a:pt x="1421285" y="0"/>
                </a:lnTo>
                <a:lnTo>
                  <a:pt x="1421285" y="1279156"/>
                </a:lnTo>
                <a:lnTo>
                  <a:pt x="0" y="12791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9530731" y="5068599"/>
            <a:ext cx="3163476" cy="4790607"/>
            <a:chOff x="0" y="0"/>
            <a:chExt cx="936060" cy="141752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36060" cy="1417522"/>
            </a:xfrm>
            <a:custGeom>
              <a:avLst/>
              <a:gdLst/>
              <a:ahLst/>
              <a:cxnLst/>
              <a:rect l="l" t="t" r="r" b="b"/>
              <a:pathLst>
                <a:path w="936060" h="1417522">
                  <a:moveTo>
                    <a:pt x="0" y="0"/>
                  </a:moveTo>
                  <a:lnTo>
                    <a:pt x="936060" y="0"/>
                  </a:lnTo>
                  <a:lnTo>
                    <a:pt x="936060" y="1417522"/>
                  </a:lnTo>
                  <a:lnTo>
                    <a:pt x="0" y="1417522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936060" cy="1436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0438264" y="5513860"/>
            <a:ext cx="1359140" cy="1359140"/>
          </a:xfrm>
          <a:custGeom>
            <a:avLst/>
            <a:gdLst/>
            <a:ahLst/>
            <a:cxnLst/>
            <a:rect l="l" t="t" r="r" b="b"/>
            <a:pathLst>
              <a:path w="1359140" h="1359140">
                <a:moveTo>
                  <a:pt x="0" y="0"/>
                </a:moveTo>
                <a:lnTo>
                  <a:pt x="1359140" y="0"/>
                </a:lnTo>
                <a:lnTo>
                  <a:pt x="1359140" y="1359140"/>
                </a:lnTo>
                <a:lnTo>
                  <a:pt x="0" y="13591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3018057" y="5098473"/>
            <a:ext cx="3163476" cy="4790607"/>
            <a:chOff x="0" y="0"/>
            <a:chExt cx="936060" cy="141752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36060" cy="1417522"/>
            </a:xfrm>
            <a:custGeom>
              <a:avLst/>
              <a:gdLst/>
              <a:ahLst/>
              <a:cxnLst/>
              <a:rect l="l" t="t" r="r" b="b"/>
              <a:pathLst>
                <a:path w="936060" h="1417522">
                  <a:moveTo>
                    <a:pt x="0" y="0"/>
                  </a:moveTo>
                  <a:lnTo>
                    <a:pt x="936060" y="0"/>
                  </a:lnTo>
                  <a:lnTo>
                    <a:pt x="936060" y="1417522"/>
                  </a:lnTo>
                  <a:lnTo>
                    <a:pt x="0" y="1417522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936060" cy="14365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4100548" y="5365173"/>
            <a:ext cx="998495" cy="1386798"/>
          </a:xfrm>
          <a:custGeom>
            <a:avLst/>
            <a:gdLst/>
            <a:ahLst/>
            <a:cxnLst/>
            <a:rect l="l" t="t" r="r" b="b"/>
            <a:pathLst>
              <a:path w="998495" h="1386798">
                <a:moveTo>
                  <a:pt x="0" y="0"/>
                </a:moveTo>
                <a:lnTo>
                  <a:pt x="998494" y="0"/>
                </a:lnTo>
                <a:lnTo>
                  <a:pt x="998494" y="1386798"/>
                </a:lnTo>
                <a:lnTo>
                  <a:pt x="0" y="138679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841432" y="321437"/>
            <a:ext cx="11832282" cy="707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46"/>
              </a:lnSpc>
              <a:spcBef>
                <a:spcPct val="0"/>
              </a:spcBef>
            </a:pPr>
            <a:r>
              <a:rPr lang="en-US" sz="4700" b="1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Corpus Architecture &amp; Purged Time-Split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731855" y="3774077"/>
            <a:ext cx="2822340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8-quarter temporal sliding windows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63757" y="3111324"/>
            <a:ext cx="2501801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324</a:t>
            </a:r>
            <a:r>
              <a:rPr lang="en-US" sz="3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Samples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708432" y="3774077"/>
            <a:ext cx="2822340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0 SHA-256 discrepancies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332284" y="3111324"/>
            <a:ext cx="3505468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4,609</a:t>
            </a:r>
            <a:r>
              <a:rPr lang="en-US" sz="3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Data Cells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16785" y="8128921"/>
            <a:ext cx="2512139" cy="159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62.3% Distress Positive</a:t>
            </a:r>
          </a:p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In-sample parameter tuning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16403" y="7359128"/>
            <a:ext cx="2312903" cy="67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33"/>
              </a:lnSpc>
              <a:spcBef>
                <a:spcPct val="0"/>
              </a:spcBef>
            </a:pPr>
            <a:r>
              <a:rPr lang="en-US" sz="37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212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67494" y="3774077"/>
            <a:ext cx="2822340" cy="654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DG, DKS, FIVE, HD, LOW, ORLY, ROST, WMT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948414" y="3149424"/>
            <a:ext cx="2598502" cy="54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332</a:t>
            </a:r>
            <a:r>
              <a:rPr lang="en-US" sz="3000" b="1" u="none" strike="noStrik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Quarters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767494" y="2706632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SEC Filings Universe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34487" y="2706632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Observation Matrix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669845" y="2728239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Audited Cell Matrix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530120" y="7055214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TRAINING SET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07660" y="8128921"/>
            <a:ext cx="2512139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90-Day Quarantine</a:t>
            </a:r>
          </a:p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IFiling latency buffer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407279" y="7359128"/>
            <a:ext cx="2312903" cy="67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33"/>
              </a:lnSpc>
              <a:spcBef>
                <a:spcPct val="0"/>
              </a:spcBef>
            </a:pPr>
            <a:r>
              <a:rPr lang="en-US" sz="37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16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020996" y="7055214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PURGED BUFFER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861764" y="8128921"/>
            <a:ext cx="2512139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65.6% Distress Positive</a:t>
            </a:r>
          </a:p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Threshold selection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961382" y="7359128"/>
            <a:ext cx="2312903" cy="67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33"/>
              </a:lnSpc>
              <a:spcBef>
                <a:spcPct val="0"/>
              </a:spcBef>
            </a:pPr>
            <a:r>
              <a:rPr lang="en-US" sz="37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32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575099" y="7055214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349090" y="8158795"/>
            <a:ext cx="2512139" cy="128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59.38% Distress Positive</a:t>
            </a:r>
          </a:p>
          <a:p>
            <a:pPr marL="431801" lvl="1" indent="-215900" algn="l">
              <a:lnSpc>
                <a:spcPts val="2500"/>
              </a:lnSpc>
              <a:buFont typeface="Arial"/>
              <a:buChar char="•"/>
            </a:pPr>
            <a:r>
              <a:rPr lang="en-US" sz="2000">
                <a:solidFill>
                  <a:srgbClr val="DAF2FF"/>
                </a:solidFill>
                <a:latin typeface="Poppins"/>
                <a:ea typeface="Poppins"/>
                <a:cs typeface="Poppins"/>
                <a:sym typeface="Poppins"/>
              </a:rPr>
              <a:t>Strict out-of-time test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448708" y="7389002"/>
            <a:ext cx="2312903" cy="671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233"/>
              </a:lnSpc>
              <a:spcBef>
                <a:spcPct val="0"/>
              </a:spcBef>
            </a:pPr>
            <a:r>
              <a:rPr lang="en-US" sz="373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64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062425" y="7085088"/>
            <a:ext cx="296034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LOCKED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57755" y="2786693"/>
            <a:ext cx="10130245" cy="9811755"/>
          </a:xfrm>
          <a:custGeom>
            <a:avLst/>
            <a:gdLst/>
            <a:ahLst/>
            <a:cxnLst/>
            <a:rect l="l" t="t" r="r" b="b"/>
            <a:pathLst>
              <a:path w="10130245" h="9811755">
                <a:moveTo>
                  <a:pt x="0" y="0"/>
                </a:moveTo>
                <a:lnTo>
                  <a:pt x="10130245" y="0"/>
                </a:lnTo>
                <a:lnTo>
                  <a:pt x="10130245" y="9811754"/>
                </a:lnTo>
                <a:lnTo>
                  <a:pt x="0" y="98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360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279710" y="3156448"/>
            <a:ext cx="10875868" cy="9811755"/>
          </a:xfrm>
          <a:custGeom>
            <a:avLst/>
            <a:gdLst/>
            <a:ahLst/>
            <a:cxnLst/>
            <a:rect l="l" t="t" r="r" b="b"/>
            <a:pathLst>
              <a:path w="10875868" h="9811755">
                <a:moveTo>
                  <a:pt x="0" y="0"/>
                </a:moveTo>
                <a:lnTo>
                  <a:pt x="10875868" y="0"/>
                </a:lnTo>
                <a:lnTo>
                  <a:pt x="10875868" y="9811754"/>
                </a:lnTo>
                <a:lnTo>
                  <a:pt x="0" y="98117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9366317" y="2250227"/>
            <a:ext cx="7866741" cy="10287000"/>
            <a:chOff x="0" y="0"/>
            <a:chExt cx="2071899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1899" cy="2709333"/>
            </a:xfrm>
            <a:custGeom>
              <a:avLst/>
              <a:gdLst/>
              <a:ahLst/>
              <a:cxnLst/>
              <a:rect l="l" t="t" r="r" b="b"/>
              <a:pathLst>
                <a:path w="2071899" h="2709333">
                  <a:moveTo>
                    <a:pt x="66921" y="0"/>
                  </a:moveTo>
                  <a:lnTo>
                    <a:pt x="2004978" y="0"/>
                  </a:lnTo>
                  <a:cubicBezTo>
                    <a:pt x="2022726" y="0"/>
                    <a:pt x="2039748" y="7051"/>
                    <a:pt x="2052298" y="19601"/>
                  </a:cubicBezTo>
                  <a:cubicBezTo>
                    <a:pt x="2064848" y="32151"/>
                    <a:pt x="2071899" y="49172"/>
                    <a:pt x="2071899" y="66921"/>
                  </a:cubicBezTo>
                  <a:lnTo>
                    <a:pt x="2071899" y="2642412"/>
                  </a:lnTo>
                  <a:cubicBezTo>
                    <a:pt x="2071899" y="2660161"/>
                    <a:pt x="2064848" y="2677182"/>
                    <a:pt x="2052298" y="2689733"/>
                  </a:cubicBezTo>
                  <a:cubicBezTo>
                    <a:pt x="2039748" y="2702283"/>
                    <a:pt x="2022726" y="2709333"/>
                    <a:pt x="2004978" y="2709333"/>
                  </a:cubicBezTo>
                  <a:lnTo>
                    <a:pt x="66921" y="2709333"/>
                  </a:lnTo>
                  <a:cubicBezTo>
                    <a:pt x="29962" y="2709333"/>
                    <a:pt x="0" y="2679372"/>
                    <a:pt x="0" y="2642412"/>
                  </a:cubicBezTo>
                  <a:lnTo>
                    <a:pt x="0" y="66921"/>
                  </a:lnTo>
                  <a:cubicBezTo>
                    <a:pt x="0" y="49172"/>
                    <a:pt x="7051" y="32151"/>
                    <a:pt x="19601" y="19601"/>
                  </a:cubicBezTo>
                  <a:cubicBezTo>
                    <a:pt x="32151" y="7051"/>
                    <a:pt x="49172" y="0"/>
                    <a:pt x="66921" y="0"/>
                  </a:cubicBez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071899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37562" y="3644952"/>
            <a:ext cx="298711" cy="305196"/>
          </a:xfrm>
          <a:custGeom>
            <a:avLst/>
            <a:gdLst/>
            <a:ahLst/>
            <a:cxnLst/>
            <a:rect l="l" t="t" r="r" b="b"/>
            <a:pathLst>
              <a:path w="298711" h="305196">
                <a:moveTo>
                  <a:pt x="0" y="0"/>
                </a:moveTo>
                <a:lnTo>
                  <a:pt x="298711" y="0"/>
                </a:lnTo>
                <a:lnTo>
                  <a:pt x="298711" y="305196"/>
                </a:lnTo>
                <a:lnTo>
                  <a:pt x="0" y="30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7562" y="5599029"/>
            <a:ext cx="298711" cy="305196"/>
          </a:xfrm>
          <a:custGeom>
            <a:avLst/>
            <a:gdLst/>
            <a:ahLst/>
            <a:cxnLst/>
            <a:rect l="l" t="t" r="r" b="b"/>
            <a:pathLst>
              <a:path w="298711" h="305196">
                <a:moveTo>
                  <a:pt x="0" y="0"/>
                </a:moveTo>
                <a:lnTo>
                  <a:pt x="298711" y="0"/>
                </a:lnTo>
                <a:lnTo>
                  <a:pt x="298711" y="305196"/>
                </a:lnTo>
                <a:lnTo>
                  <a:pt x="0" y="30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37562" y="7539972"/>
            <a:ext cx="298711" cy="305196"/>
          </a:xfrm>
          <a:custGeom>
            <a:avLst/>
            <a:gdLst/>
            <a:ahLst/>
            <a:cxnLst/>
            <a:rect l="l" t="t" r="r" b="b"/>
            <a:pathLst>
              <a:path w="298711" h="305196">
                <a:moveTo>
                  <a:pt x="0" y="0"/>
                </a:moveTo>
                <a:lnTo>
                  <a:pt x="298711" y="0"/>
                </a:lnTo>
                <a:lnTo>
                  <a:pt x="298711" y="305196"/>
                </a:lnTo>
                <a:lnTo>
                  <a:pt x="0" y="30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35496" y="-39565"/>
            <a:ext cx="1703793" cy="1774784"/>
          </a:xfrm>
          <a:custGeom>
            <a:avLst/>
            <a:gdLst/>
            <a:ahLst/>
            <a:cxnLst/>
            <a:rect l="l" t="t" r="r" b="b"/>
            <a:pathLst>
              <a:path w="1703793" h="1774784">
                <a:moveTo>
                  <a:pt x="0" y="0"/>
                </a:moveTo>
                <a:lnTo>
                  <a:pt x="1703792" y="0"/>
                </a:lnTo>
                <a:lnTo>
                  <a:pt x="1703792" y="1774784"/>
                </a:lnTo>
                <a:lnTo>
                  <a:pt x="0" y="1774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04200" y="3541460"/>
            <a:ext cx="4961013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Reduces human error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4200" y="5495537"/>
            <a:ext cx="5923993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Improves decision-making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04200" y="4091746"/>
            <a:ext cx="5346016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AI systems process complex data with high precision, minimizing mistakes that can lead to costly financial losses.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04200" y="6045823"/>
            <a:ext cx="5791841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By analyzing patterns and predicting outcomes, AI supports financial professionals in making more informed and strategic decisions.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4200" y="7454888"/>
            <a:ext cx="5923993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Automates repetitive tasks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04200" y="8005175"/>
            <a:ext cx="5934505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Routine processes such as document verification, data entry, and compliance checks are handled quickly, saving time and resources.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87392" y="2250227"/>
            <a:ext cx="8013080" cy="10287000"/>
            <a:chOff x="0" y="0"/>
            <a:chExt cx="2110441" cy="27093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10441" cy="2709333"/>
            </a:xfrm>
            <a:custGeom>
              <a:avLst/>
              <a:gdLst/>
              <a:ahLst/>
              <a:cxnLst/>
              <a:rect l="l" t="t" r="r" b="b"/>
              <a:pathLst>
                <a:path w="2110441" h="2709333">
                  <a:moveTo>
                    <a:pt x="65699" y="0"/>
                  </a:moveTo>
                  <a:lnTo>
                    <a:pt x="2044742" y="0"/>
                  </a:lnTo>
                  <a:cubicBezTo>
                    <a:pt x="2062167" y="0"/>
                    <a:pt x="2078877" y="6922"/>
                    <a:pt x="2091198" y="19243"/>
                  </a:cubicBezTo>
                  <a:cubicBezTo>
                    <a:pt x="2103519" y="31564"/>
                    <a:pt x="2110441" y="48274"/>
                    <a:pt x="2110441" y="65699"/>
                  </a:cubicBezTo>
                  <a:lnTo>
                    <a:pt x="2110441" y="2643634"/>
                  </a:lnTo>
                  <a:cubicBezTo>
                    <a:pt x="2110441" y="2679919"/>
                    <a:pt x="2081026" y="2709333"/>
                    <a:pt x="2044742" y="2709333"/>
                  </a:cubicBezTo>
                  <a:lnTo>
                    <a:pt x="65699" y="2709333"/>
                  </a:lnTo>
                  <a:cubicBezTo>
                    <a:pt x="29414" y="2709333"/>
                    <a:pt x="0" y="2679919"/>
                    <a:pt x="0" y="2643634"/>
                  </a:cubicBezTo>
                  <a:lnTo>
                    <a:pt x="0" y="65699"/>
                  </a:lnTo>
                  <a:cubicBezTo>
                    <a:pt x="0" y="48274"/>
                    <a:pt x="6922" y="31564"/>
                    <a:pt x="19243" y="19243"/>
                  </a:cubicBezTo>
                  <a:cubicBezTo>
                    <a:pt x="31564" y="6922"/>
                    <a:pt x="48274" y="0"/>
                    <a:pt x="65699" y="0"/>
                  </a:cubicBez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2110441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0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912421" y="5852215"/>
            <a:ext cx="5452225" cy="342013"/>
            <a:chOff x="0" y="0"/>
            <a:chExt cx="7269633" cy="4560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8281" cy="406928"/>
            </a:xfrm>
            <a:custGeom>
              <a:avLst/>
              <a:gdLst/>
              <a:ahLst/>
              <a:cxnLst/>
              <a:rect l="l" t="t" r="r" b="b"/>
              <a:pathLst>
                <a:path w="398281" h="406928">
                  <a:moveTo>
                    <a:pt x="0" y="0"/>
                  </a:moveTo>
                  <a:lnTo>
                    <a:pt x="398281" y="0"/>
                  </a:lnTo>
                  <a:lnTo>
                    <a:pt x="398281" y="406928"/>
                  </a:lnTo>
                  <a:lnTo>
                    <a:pt x="0" y="40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654950" y="-66675"/>
              <a:ext cx="6614683" cy="522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8"/>
                </a:lnSpc>
                <a:spcBef>
                  <a:spcPct val="0"/>
                </a:spcBef>
              </a:pPr>
              <a:r>
                <a:rPr lang="en-US" sz="228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Imbalance Ratio: 1.66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93849" y="6651428"/>
            <a:ext cx="3698143" cy="342013"/>
            <a:chOff x="0" y="0"/>
            <a:chExt cx="4930857" cy="456018"/>
          </a:xfrm>
        </p:grpSpPr>
        <p:sp>
          <p:nvSpPr>
            <p:cNvPr id="24" name="Freeform 24"/>
            <p:cNvSpPr/>
            <p:nvPr/>
          </p:nvSpPr>
          <p:spPr>
            <a:xfrm>
              <a:off x="0" y="49090"/>
              <a:ext cx="398281" cy="406928"/>
            </a:xfrm>
            <a:custGeom>
              <a:avLst/>
              <a:gdLst/>
              <a:ahLst/>
              <a:cxnLst/>
              <a:rect l="l" t="t" r="r" b="b"/>
              <a:pathLst>
                <a:path w="398281" h="406928">
                  <a:moveTo>
                    <a:pt x="0" y="0"/>
                  </a:moveTo>
                  <a:lnTo>
                    <a:pt x="398281" y="0"/>
                  </a:lnTo>
                  <a:lnTo>
                    <a:pt x="398281" y="406928"/>
                  </a:lnTo>
                  <a:lnTo>
                    <a:pt x="0" y="40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622184" y="-66675"/>
              <a:ext cx="4308673" cy="522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8"/>
                </a:lnSpc>
                <a:spcBef>
                  <a:spcPct val="0"/>
                </a:spcBef>
              </a:pPr>
              <a:r>
                <a:rPr lang="en-US" sz="228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Distress Ratio: 62.35%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886918" y="7495845"/>
            <a:ext cx="6390631" cy="342013"/>
            <a:chOff x="0" y="0"/>
            <a:chExt cx="8520842" cy="456018"/>
          </a:xfrm>
        </p:grpSpPr>
        <p:sp>
          <p:nvSpPr>
            <p:cNvPr id="27" name="Freeform 27"/>
            <p:cNvSpPr/>
            <p:nvPr/>
          </p:nvSpPr>
          <p:spPr>
            <a:xfrm>
              <a:off x="0" y="24545"/>
              <a:ext cx="398281" cy="406928"/>
            </a:xfrm>
            <a:custGeom>
              <a:avLst/>
              <a:gdLst/>
              <a:ahLst/>
              <a:cxnLst/>
              <a:rect l="l" t="t" r="r" b="b"/>
              <a:pathLst>
                <a:path w="398281" h="406928">
                  <a:moveTo>
                    <a:pt x="0" y="0"/>
                  </a:moveTo>
                  <a:lnTo>
                    <a:pt x="398281" y="0"/>
                  </a:lnTo>
                  <a:lnTo>
                    <a:pt x="398281" y="406928"/>
                  </a:lnTo>
                  <a:lnTo>
                    <a:pt x="0" y="40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622184" y="-66675"/>
              <a:ext cx="7898658" cy="5226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198"/>
                </a:lnSpc>
                <a:spcBef>
                  <a:spcPct val="0"/>
                </a:spcBef>
              </a:pPr>
              <a:r>
                <a:rPr lang="en-US" sz="228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Shannon Entropy: 0.9556 bit</a:t>
              </a:r>
            </a:p>
          </p:txBody>
        </p:sp>
      </p:grpSp>
      <p:sp>
        <p:nvSpPr>
          <p:cNvPr id="29" name="Freeform 29"/>
          <p:cNvSpPr/>
          <p:nvPr/>
        </p:nvSpPr>
        <p:spPr>
          <a:xfrm>
            <a:off x="1028700" y="8538258"/>
            <a:ext cx="7315200" cy="1499616"/>
          </a:xfrm>
          <a:custGeom>
            <a:avLst/>
            <a:gdLst/>
            <a:ahLst/>
            <a:cxnLst/>
            <a:rect l="l" t="t" r="r" b="b"/>
            <a:pathLst>
              <a:path w="7315200" h="1499616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9975295" y="5904225"/>
            <a:ext cx="6787717" cy="1295505"/>
          </a:xfrm>
          <a:custGeom>
            <a:avLst/>
            <a:gdLst/>
            <a:ahLst/>
            <a:cxnLst/>
            <a:rect l="l" t="t" r="r" b="b"/>
            <a:pathLst>
              <a:path w="6787717" h="1295505">
                <a:moveTo>
                  <a:pt x="0" y="0"/>
                </a:moveTo>
                <a:lnTo>
                  <a:pt x="6787717" y="0"/>
                </a:lnTo>
                <a:lnTo>
                  <a:pt x="6787717" y="1295505"/>
                </a:lnTo>
                <a:lnTo>
                  <a:pt x="0" y="129550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2039318" y="751627"/>
            <a:ext cx="14393568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5000" b="1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DUAL-LEVEL IMBALANCE PARADOX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19207" y="2747759"/>
            <a:ext cx="5130998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LEVEL 1 • SAMPLE OBSERVATIONS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688685" y="2715123"/>
            <a:ext cx="5360938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LEVEL 2 • ENTITY CONCENTRATION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774784" y="3368953"/>
            <a:ext cx="598303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MODERATE SAMPLE IMBALANCE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178578" y="4226371"/>
            <a:ext cx="4986635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Aggregate observation splits appear benign across standard class balance diagnostics.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886918" y="8587477"/>
            <a:ext cx="5705222" cy="120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 Shannon entropy falsely suggests a balanced learning problem to naive estimators.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616280" y="3273674"/>
            <a:ext cx="550574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EXTREME ENTITY DISTORTION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875836" y="4226371"/>
            <a:ext cx="4986635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Individual retail chains exhibit deterministic, single-class regime persistence.</a:t>
            </a:r>
          </a:p>
        </p:txBody>
      </p:sp>
      <p:sp>
        <p:nvSpPr>
          <p:cNvPr id="39" name="Freeform 39"/>
          <p:cNvSpPr/>
          <p:nvPr/>
        </p:nvSpPr>
        <p:spPr>
          <a:xfrm>
            <a:off x="9805499" y="8296649"/>
            <a:ext cx="7315200" cy="1499616"/>
          </a:xfrm>
          <a:custGeom>
            <a:avLst/>
            <a:gdLst/>
            <a:ahLst/>
            <a:cxnLst/>
            <a:rect l="l" t="t" r="r" b="b"/>
            <a:pathLst>
              <a:path w="7315200" h="1499616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0447076" y="8376458"/>
            <a:ext cx="5705222" cy="120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41.0% of total corpus</a:t>
            </a:r>
            <a:r>
              <a:rPr lang="en-US" sz="22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originates from purely single-class firms, creating an entity memorization vulnerability.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0179" y="2988140"/>
            <a:ext cx="8754364" cy="5626910"/>
            <a:chOff x="0" y="0"/>
            <a:chExt cx="1857416" cy="11938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7416" cy="1193863"/>
            </a:xfrm>
            <a:custGeom>
              <a:avLst/>
              <a:gdLst/>
              <a:ahLst/>
              <a:cxnLst/>
              <a:rect l="l" t="t" r="r" b="b"/>
              <a:pathLst>
                <a:path w="1857416" h="1193863">
                  <a:moveTo>
                    <a:pt x="45102" y="0"/>
                  </a:moveTo>
                  <a:lnTo>
                    <a:pt x="1812314" y="0"/>
                  </a:lnTo>
                  <a:cubicBezTo>
                    <a:pt x="1837223" y="0"/>
                    <a:pt x="1857416" y="20193"/>
                    <a:pt x="1857416" y="45102"/>
                  </a:cubicBezTo>
                  <a:lnTo>
                    <a:pt x="1857416" y="1148761"/>
                  </a:lnTo>
                  <a:cubicBezTo>
                    <a:pt x="1857416" y="1173670"/>
                    <a:pt x="1837223" y="1193863"/>
                    <a:pt x="1812314" y="1193863"/>
                  </a:cubicBezTo>
                  <a:lnTo>
                    <a:pt x="45102" y="1193863"/>
                  </a:lnTo>
                  <a:cubicBezTo>
                    <a:pt x="20193" y="1193863"/>
                    <a:pt x="0" y="1173670"/>
                    <a:pt x="0" y="1148761"/>
                  </a:cubicBezTo>
                  <a:lnTo>
                    <a:pt x="0" y="45102"/>
                  </a:lnTo>
                  <a:cubicBezTo>
                    <a:pt x="0" y="20193"/>
                    <a:pt x="20193" y="0"/>
                    <a:pt x="45102" y="0"/>
                  </a:cubicBezTo>
                  <a:close/>
                </a:path>
              </a:pathLst>
            </a:custGeom>
            <a:solidFill>
              <a:srgbClr val="DAF2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857416" cy="12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58638" y="7327695"/>
            <a:ext cx="6960156" cy="1045114"/>
            <a:chOff x="0" y="0"/>
            <a:chExt cx="1476738" cy="2217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76738" cy="221742"/>
            </a:xfrm>
            <a:custGeom>
              <a:avLst/>
              <a:gdLst/>
              <a:ahLst/>
              <a:cxnLst/>
              <a:rect l="l" t="t" r="r" b="b"/>
              <a:pathLst>
                <a:path w="1476738" h="221742">
                  <a:moveTo>
                    <a:pt x="56728" y="0"/>
                  </a:moveTo>
                  <a:lnTo>
                    <a:pt x="1420010" y="0"/>
                  </a:lnTo>
                  <a:cubicBezTo>
                    <a:pt x="1435055" y="0"/>
                    <a:pt x="1449484" y="5977"/>
                    <a:pt x="1460123" y="16615"/>
                  </a:cubicBezTo>
                  <a:cubicBezTo>
                    <a:pt x="1470761" y="27254"/>
                    <a:pt x="1476738" y="41683"/>
                    <a:pt x="1476738" y="56728"/>
                  </a:cubicBezTo>
                  <a:lnTo>
                    <a:pt x="1476738" y="165014"/>
                  </a:lnTo>
                  <a:cubicBezTo>
                    <a:pt x="1476738" y="180059"/>
                    <a:pt x="1470761" y="194488"/>
                    <a:pt x="1460123" y="205127"/>
                  </a:cubicBezTo>
                  <a:cubicBezTo>
                    <a:pt x="1449484" y="215765"/>
                    <a:pt x="1435055" y="221742"/>
                    <a:pt x="1420010" y="221742"/>
                  </a:cubicBezTo>
                  <a:lnTo>
                    <a:pt x="56728" y="221742"/>
                  </a:lnTo>
                  <a:cubicBezTo>
                    <a:pt x="41683" y="221742"/>
                    <a:pt x="27254" y="215765"/>
                    <a:pt x="16615" y="205127"/>
                  </a:cubicBezTo>
                  <a:cubicBezTo>
                    <a:pt x="5977" y="194488"/>
                    <a:pt x="0" y="180059"/>
                    <a:pt x="0" y="165014"/>
                  </a:cubicBezTo>
                  <a:lnTo>
                    <a:pt x="0" y="56728"/>
                  </a:lnTo>
                  <a:cubicBezTo>
                    <a:pt x="0" y="41683"/>
                    <a:pt x="5977" y="27254"/>
                    <a:pt x="16615" y="16615"/>
                  </a:cubicBezTo>
                  <a:cubicBezTo>
                    <a:pt x="27254" y="5977"/>
                    <a:pt x="41683" y="0"/>
                    <a:pt x="56728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476738" cy="28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559586" y="4938499"/>
            <a:ext cx="8108169" cy="1923560"/>
          </a:xfrm>
          <a:custGeom>
            <a:avLst/>
            <a:gdLst/>
            <a:ahLst/>
            <a:cxnLst/>
            <a:rect l="l" t="t" r="r" b="b"/>
            <a:pathLst>
              <a:path w="8108169" h="1923560">
                <a:moveTo>
                  <a:pt x="0" y="0"/>
                </a:moveTo>
                <a:lnTo>
                  <a:pt x="8108169" y="0"/>
                </a:lnTo>
                <a:lnTo>
                  <a:pt x="8108169" y="1923560"/>
                </a:lnTo>
                <a:lnTo>
                  <a:pt x="0" y="1923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283457" y="2988140"/>
            <a:ext cx="8754364" cy="5626910"/>
            <a:chOff x="0" y="0"/>
            <a:chExt cx="1857416" cy="11938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857416" cy="1193863"/>
            </a:xfrm>
            <a:custGeom>
              <a:avLst/>
              <a:gdLst/>
              <a:ahLst/>
              <a:cxnLst/>
              <a:rect l="l" t="t" r="r" b="b"/>
              <a:pathLst>
                <a:path w="1857416" h="1193863">
                  <a:moveTo>
                    <a:pt x="45102" y="0"/>
                  </a:moveTo>
                  <a:lnTo>
                    <a:pt x="1812314" y="0"/>
                  </a:lnTo>
                  <a:cubicBezTo>
                    <a:pt x="1837223" y="0"/>
                    <a:pt x="1857416" y="20193"/>
                    <a:pt x="1857416" y="45102"/>
                  </a:cubicBezTo>
                  <a:lnTo>
                    <a:pt x="1857416" y="1148761"/>
                  </a:lnTo>
                  <a:cubicBezTo>
                    <a:pt x="1857416" y="1173670"/>
                    <a:pt x="1837223" y="1193863"/>
                    <a:pt x="1812314" y="1193863"/>
                  </a:cubicBezTo>
                  <a:lnTo>
                    <a:pt x="45102" y="1193863"/>
                  </a:lnTo>
                  <a:cubicBezTo>
                    <a:pt x="20193" y="1193863"/>
                    <a:pt x="0" y="1173670"/>
                    <a:pt x="0" y="1148761"/>
                  </a:cubicBezTo>
                  <a:lnTo>
                    <a:pt x="0" y="45102"/>
                  </a:lnTo>
                  <a:cubicBezTo>
                    <a:pt x="0" y="20193"/>
                    <a:pt x="20193" y="0"/>
                    <a:pt x="45102" y="0"/>
                  </a:cubicBezTo>
                  <a:close/>
                </a:path>
              </a:pathLst>
            </a:custGeom>
            <a:solidFill>
              <a:srgbClr val="DAF2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857416" cy="12605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91915" y="7327695"/>
            <a:ext cx="6960156" cy="1045114"/>
            <a:chOff x="0" y="0"/>
            <a:chExt cx="1476738" cy="2217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76738" cy="221742"/>
            </a:xfrm>
            <a:custGeom>
              <a:avLst/>
              <a:gdLst/>
              <a:ahLst/>
              <a:cxnLst/>
              <a:rect l="l" t="t" r="r" b="b"/>
              <a:pathLst>
                <a:path w="1476738" h="221742">
                  <a:moveTo>
                    <a:pt x="56728" y="0"/>
                  </a:moveTo>
                  <a:lnTo>
                    <a:pt x="1420010" y="0"/>
                  </a:lnTo>
                  <a:cubicBezTo>
                    <a:pt x="1435055" y="0"/>
                    <a:pt x="1449484" y="5977"/>
                    <a:pt x="1460123" y="16615"/>
                  </a:cubicBezTo>
                  <a:cubicBezTo>
                    <a:pt x="1470761" y="27254"/>
                    <a:pt x="1476738" y="41683"/>
                    <a:pt x="1476738" y="56728"/>
                  </a:cubicBezTo>
                  <a:lnTo>
                    <a:pt x="1476738" y="165014"/>
                  </a:lnTo>
                  <a:cubicBezTo>
                    <a:pt x="1476738" y="180059"/>
                    <a:pt x="1470761" y="194488"/>
                    <a:pt x="1460123" y="205127"/>
                  </a:cubicBezTo>
                  <a:cubicBezTo>
                    <a:pt x="1449484" y="215765"/>
                    <a:pt x="1435055" y="221742"/>
                    <a:pt x="1420010" y="221742"/>
                  </a:cubicBezTo>
                  <a:lnTo>
                    <a:pt x="56728" y="221742"/>
                  </a:lnTo>
                  <a:cubicBezTo>
                    <a:pt x="41683" y="221742"/>
                    <a:pt x="27254" y="215765"/>
                    <a:pt x="16615" y="205127"/>
                  </a:cubicBezTo>
                  <a:cubicBezTo>
                    <a:pt x="5977" y="194488"/>
                    <a:pt x="0" y="180059"/>
                    <a:pt x="0" y="165014"/>
                  </a:cubicBezTo>
                  <a:lnTo>
                    <a:pt x="0" y="56728"/>
                  </a:lnTo>
                  <a:cubicBezTo>
                    <a:pt x="0" y="41683"/>
                    <a:pt x="5977" y="27254"/>
                    <a:pt x="16615" y="16615"/>
                  </a:cubicBezTo>
                  <a:cubicBezTo>
                    <a:pt x="27254" y="5977"/>
                    <a:pt x="41683" y="0"/>
                    <a:pt x="56728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1476738" cy="2884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9866872" y="4938499"/>
            <a:ext cx="7610243" cy="2038458"/>
          </a:xfrm>
          <a:custGeom>
            <a:avLst/>
            <a:gdLst/>
            <a:ahLst/>
            <a:cxnLst/>
            <a:rect l="l" t="t" r="r" b="b"/>
            <a:pathLst>
              <a:path w="7610243" h="2038458">
                <a:moveTo>
                  <a:pt x="0" y="0"/>
                </a:moveTo>
                <a:lnTo>
                  <a:pt x="7610243" y="0"/>
                </a:lnTo>
                <a:lnTo>
                  <a:pt x="7610243" y="2038458"/>
                </a:lnTo>
                <a:lnTo>
                  <a:pt x="0" y="2038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760315" y="875506"/>
            <a:ext cx="12767370" cy="85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39"/>
              </a:lnSpc>
            </a:pPr>
            <a:r>
              <a:rPr lang="en-US" sz="5999" b="1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Feature Signals &amp; Multicollinearity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79074" y="7451647"/>
            <a:ext cx="6439719" cy="78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737" b="1">
                <a:solidFill>
                  <a:srgbClr val="DAF2FF"/>
                </a:solidFill>
                <a:latin typeface="Raleway Bold"/>
                <a:ea typeface="Raleway Bold"/>
                <a:cs typeface="Raleway Bold"/>
                <a:sym typeface="Raleway Bold"/>
              </a:rPr>
              <a:t>Inverse Ranking: Raw AUC = 0.048 indicates strong separation where lower liquidity scores monotonically predict imminent distress events.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2902" y="3369366"/>
            <a:ext cx="8080787" cy="62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6"/>
              </a:lnSpc>
              <a:spcBef>
                <a:spcPct val="0"/>
              </a:spcBef>
            </a:pPr>
            <a:r>
              <a:rPr lang="en-US" sz="3475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TOP PREDICTIVE FEATURE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6967" y="4050820"/>
            <a:ext cx="8080787" cy="44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  <a:spcBef>
                <a:spcPct val="0"/>
              </a:spcBef>
            </a:pPr>
            <a:r>
              <a:rPr lang="en-US" sz="2482" b="1">
                <a:solidFill>
                  <a:srgbClr val="079EFF"/>
                </a:solidFill>
                <a:latin typeface="Poppins Bold"/>
                <a:ea typeface="Poppins Bold"/>
                <a:cs typeface="Poppins Bold"/>
                <a:sym typeface="Poppins Bold"/>
              </a:rPr>
              <a:t>current_ratio_min_window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9991" y="7581708"/>
            <a:ext cx="5944005" cy="52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2"/>
              </a:lnSpc>
            </a:pPr>
            <a:r>
              <a:rPr lang="en-US" sz="1737" b="1">
                <a:solidFill>
                  <a:srgbClr val="DAF2FF"/>
                </a:solidFill>
                <a:latin typeface="Raleway Bold"/>
                <a:ea typeface="Raleway Bold"/>
                <a:cs typeface="Raleway Bold"/>
                <a:sym typeface="Raleway Bold"/>
              </a:rPr>
              <a:t>Dimensionality Collapse: 47 nominal accounting metrics span less than 13 independent linear coordinates.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56180" y="3369366"/>
            <a:ext cx="8080787" cy="62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6"/>
              </a:lnSpc>
              <a:spcBef>
                <a:spcPct val="0"/>
              </a:spcBef>
            </a:pPr>
            <a:r>
              <a:rPr lang="en-US" sz="3475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MULTICOLLINEARITY AUDIT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20245" y="4050820"/>
            <a:ext cx="8080787" cy="44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5"/>
              </a:lnSpc>
              <a:spcBef>
                <a:spcPct val="0"/>
              </a:spcBef>
            </a:pPr>
            <a:r>
              <a:rPr lang="en-US" sz="2482" b="1">
                <a:solidFill>
                  <a:srgbClr val="079EFF"/>
                </a:solidFill>
                <a:latin typeface="Poppins Bold"/>
                <a:ea typeface="Poppins Bold"/>
                <a:cs typeface="Poppins Bold"/>
                <a:sym typeface="Poppins Bold"/>
              </a:rPr>
              <a:t>Extreme Feature Redundancy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6396" y="3028057"/>
            <a:ext cx="2279293" cy="489935"/>
            <a:chOff x="0" y="0"/>
            <a:chExt cx="657758" cy="1413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57758" cy="141385"/>
            </a:xfrm>
            <a:custGeom>
              <a:avLst/>
              <a:gdLst/>
              <a:ahLst/>
              <a:cxnLst/>
              <a:rect l="l" t="t" r="r" b="b"/>
              <a:pathLst>
                <a:path w="657758" h="141385">
                  <a:moveTo>
                    <a:pt x="70693" y="0"/>
                  </a:moveTo>
                  <a:lnTo>
                    <a:pt x="587066" y="0"/>
                  </a:lnTo>
                  <a:cubicBezTo>
                    <a:pt x="626108" y="0"/>
                    <a:pt x="657758" y="31650"/>
                    <a:pt x="657758" y="70693"/>
                  </a:cubicBezTo>
                  <a:lnTo>
                    <a:pt x="657758" y="70693"/>
                  </a:lnTo>
                  <a:cubicBezTo>
                    <a:pt x="657758" y="109735"/>
                    <a:pt x="626108" y="141385"/>
                    <a:pt x="587066" y="141385"/>
                  </a:cubicBezTo>
                  <a:lnTo>
                    <a:pt x="70693" y="141385"/>
                  </a:lnTo>
                  <a:cubicBezTo>
                    <a:pt x="31650" y="141385"/>
                    <a:pt x="0" y="109735"/>
                    <a:pt x="0" y="70693"/>
                  </a:cubicBezTo>
                  <a:lnTo>
                    <a:pt x="0" y="70693"/>
                  </a:lnTo>
                  <a:cubicBezTo>
                    <a:pt x="0" y="31650"/>
                    <a:pt x="31650" y="0"/>
                    <a:pt x="70693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657758" cy="16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167053" y="3028057"/>
            <a:ext cx="2449480" cy="489935"/>
            <a:chOff x="0" y="0"/>
            <a:chExt cx="706871" cy="1413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06871" cy="141385"/>
            </a:xfrm>
            <a:custGeom>
              <a:avLst/>
              <a:gdLst/>
              <a:ahLst/>
              <a:cxnLst/>
              <a:rect l="l" t="t" r="r" b="b"/>
              <a:pathLst>
                <a:path w="706871" h="141385">
                  <a:moveTo>
                    <a:pt x="70693" y="0"/>
                  </a:moveTo>
                  <a:lnTo>
                    <a:pt x="636178" y="0"/>
                  </a:lnTo>
                  <a:cubicBezTo>
                    <a:pt x="675220" y="0"/>
                    <a:pt x="706871" y="31650"/>
                    <a:pt x="706871" y="70693"/>
                  </a:cubicBezTo>
                  <a:lnTo>
                    <a:pt x="706871" y="70693"/>
                  </a:lnTo>
                  <a:cubicBezTo>
                    <a:pt x="706871" y="109735"/>
                    <a:pt x="675220" y="141385"/>
                    <a:pt x="636178" y="141385"/>
                  </a:cubicBezTo>
                  <a:lnTo>
                    <a:pt x="70693" y="141385"/>
                  </a:lnTo>
                  <a:cubicBezTo>
                    <a:pt x="31650" y="141385"/>
                    <a:pt x="0" y="109735"/>
                    <a:pt x="0" y="70693"/>
                  </a:cubicBezTo>
                  <a:lnTo>
                    <a:pt x="0" y="70693"/>
                  </a:lnTo>
                  <a:cubicBezTo>
                    <a:pt x="0" y="31650"/>
                    <a:pt x="31650" y="0"/>
                    <a:pt x="70693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706871" cy="16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800000">
            <a:off x="135767" y="3028057"/>
            <a:ext cx="803172" cy="489935"/>
          </a:xfrm>
          <a:custGeom>
            <a:avLst/>
            <a:gdLst/>
            <a:ahLst/>
            <a:cxnLst/>
            <a:rect l="l" t="t" r="r" b="b"/>
            <a:pathLst>
              <a:path w="803172" h="489935">
                <a:moveTo>
                  <a:pt x="0" y="0"/>
                </a:moveTo>
                <a:lnTo>
                  <a:pt x="803172" y="0"/>
                </a:lnTo>
                <a:lnTo>
                  <a:pt x="803172" y="489935"/>
                </a:lnTo>
                <a:lnTo>
                  <a:pt x="0" y="48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3946425" y="3028057"/>
            <a:ext cx="803172" cy="489935"/>
          </a:xfrm>
          <a:custGeom>
            <a:avLst/>
            <a:gdLst/>
            <a:ahLst/>
            <a:cxnLst/>
            <a:rect l="l" t="t" r="r" b="b"/>
            <a:pathLst>
              <a:path w="803172" h="489935">
                <a:moveTo>
                  <a:pt x="0" y="0"/>
                </a:moveTo>
                <a:lnTo>
                  <a:pt x="803171" y="0"/>
                </a:lnTo>
                <a:lnTo>
                  <a:pt x="803171" y="489935"/>
                </a:lnTo>
                <a:lnTo>
                  <a:pt x="0" y="48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029839" y="3046734"/>
            <a:ext cx="577556" cy="452582"/>
            <a:chOff x="0" y="0"/>
            <a:chExt cx="1015093" cy="7954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5093" cy="795442"/>
            </a:xfrm>
            <a:custGeom>
              <a:avLst/>
              <a:gdLst/>
              <a:ahLst/>
              <a:cxnLst/>
              <a:rect l="l" t="t" r="r" b="b"/>
              <a:pathLst>
                <a:path w="1015093" h="795442">
                  <a:moveTo>
                    <a:pt x="1015093" y="397721"/>
                  </a:moveTo>
                  <a:lnTo>
                    <a:pt x="608693" y="0"/>
                  </a:lnTo>
                  <a:lnTo>
                    <a:pt x="608693" y="203200"/>
                  </a:lnTo>
                  <a:lnTo>
                    <a:pt x="0" y="203200"/>
                  </a:lnTo>
                  <a:lnTo>
                    <a:pt x="0" y="592242"/>
                  </a:lnTo>
                  <a:lnTo>
                    <a:pt x="608693" y="592242"/>
                  </a:lnTo>
                  <a:lnTo>
                    <a:pt x="608693" y="795442"/>
                  </a:lnTo>
                  <a:lnTo>
                    <a:pt x="1015093" y="397721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136525"/>
              <a:ext cx="913493" cy="45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5846" y="3009583"/>
            <a:ext cx="2739553" cy="489935"/>
            <a:chOff x="0" y="0"/>
            <a:chExt cx="790580" cy="1413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90580" cy="141385"/>
            </a:xfrm>
            <a:custGeom>
              <a:avLst/>
              <a:gdLst/>
              <a:ahLst/>
              <a:cxnLst/>
              <a:rect l="l" t="t" r="r" b="b"/>
              <a:pathLst>
                <a:path w="790580" h="141385">
                  <a:moveTo>
                    <a:pt x="70693" y="0"/>
                  </a:moveTo>
                  <a:lnTo>
                    <a:pt x="719887" y="0"/>
                  </a:lnTo>
                  <a:cubicBezTo>
                    <a:pt x="738636" y="0"/>
                    <a:pt x="756617" y="7448"/>
                    <a:pt x="769874" y="20705"/>
                  </a:cubicBezTo>
                  <a:cubicBezTo>
                    <a:pt x="783132" y="33963"/>
                    <a:pt x="790580" y="51944"/>
                    <a:pt x="790580" y="70693"/>
                  </a:cubicBezTo>
                  <a:lnTo>
                    <a:pt x="790580" y="70693"/>
                  </a:lnTo>
                  <a:cubicBezTo>
                    <a:pt x="790580" y="109735"/>
                    <a:pt x="758930" y="141385"/>
                    <a:pt x="719887" y="141385"/>
                  </a:cubicBezTo>
                  <a:lnTo>
                    <a:pt x="70693" y="141385"/>
                  </a:lnTo>
                  <a:cubicBezTo>
                    <a:pt x="31650" y="141385"/>
                    <a:pt x="0" y="109735"/>
                    <a:pt x="0" y="70693"/>
                  </a:cubicBezTo>
                  <a:lnTo>
                    <a:pt x="0" y="70693"/>
                  </a:lnTo>
                  <a:cubicBezTo>
                    <a:pt x="0" y="31650"/>
                    <a:pt x="31650" y="0"/>
                    <a:pt x="70693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790580" cy="16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 rot="-10800000">
            <a:off x="7785217" y="3009583"/>
            <a:ext cx="803172" cy="489935"/>
          </a:xfrm>
          <a:custGeom>
            <a:avLst/>
            <a:gdLst/>
            <a:ahLst/>
            <a:cxnLst/>
            <a:rect l="l" t="t" r="r" b="b"/>
            <a:pathLst>
              <a:path w="803172" h="489935">
                <a:moveTo>
                  <a:pt x="0" y="0"/>
                </a:moveTo>
                <a:lnTo>
                  <a:pt x="803172" y="0"/>
                </a:lnTo>
                <a:lnTo>
                  <a:pt x="803172" y="489935"/>
                </a:lnTo>
                <a:lnTo>
                  <a:pt x="0" y="48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6868632" y="3028260"/>
            <a:ext cx="577556" cy="452582"/>
            <a:chOff x="0" y="0"/>
            <a:chExt cx="1015093" cy="79544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15093" cy="795442"/>
            </a:xfrm>
            <a:custGeom>
              <a:avLst/>
              <a:gdLst/>
              <a:ahLst/>
              <a:cxnLst/>
              <a:rect l="l" t="t" r="r" b="b"/>
              <a:pathLst>
                <a:path w="1015093" h="795442">
                  <a:moveTo>
                    <a:pt x="1015093" y="397721"/>
                  </a:moveTo>
                  <a:lnTo>
                    <a:pt x="608693" y="0"/>
                  </a:lnTo>
                  <a:lnTo>
                    <a:pt x="608693" y="203200"/>
                  </a:lnTo>
                  <a:lnTo>
                    <a:pt x="0" y="203200"/>
                  </a:lnTo>
                  <a:lnTo>
                    <a:pt x="0" y="592242"/>
                  </a:lnTo>
                  <a:lnTo>
                    <a:pt x="608693" y="592242"/>
                  </a:lnTo>
                  <a:lnTo>
                    <a:pt x="608693" y="795442"/>
                  </a:lnTo>
                  <a:lnTo>
                    <a:pt x="1015093" y="397721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136525"/>
              <a:ext cx="913493" cy="45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030395" y="3009583"/>
            <a:ext cx="2739553" cy="489935"/>
            <a:chOff x="0" y="0"/>
            <a:chExt cx="790580" cy="14138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90580" cy="141385"/>
            </a:xfrm>
            <a:custGeom>
              <a:avLst/>
              <a:gdLst/>
              <a:ahLst/>
              <a:cxnLst/>
              <a:rect l="l" t="t" r="r" b="b"/>
              <a:pathLst>
                <a:path w="790580" h="141385">
                  <a:moveTo>
                    <a:pt x="70693" y="0"/>
                  </a:moveTo>
                  <a:lnTo>
                    <a:pt x="719887" y="0"/>
                  </a:lnTo>
                  <a:cubicBezTo>
                    <a:pt x="738636" y="0"/>
                    <a:pt x="756617" y="7448"/>
                    <a:pt x="769874" y="20705"/>
                  </a:cubicBezTo>
                  <a:cubicBezTo>
                    <a:pt x="783132" y="33963"/>
                    <a:pt x="790580" y="51944"/>
                    <a:pt x="790580" y="70693"/>
                  </a:cubicBezTo>
                  <a:lnTo>
                    <a:pt x="790580" y="70693"/>
                  </a:lnTo>
                  <a:cubicBezTo>
                    <a:pt x="790580" y="109735"/>
                    <a:pt x="758930" y="141385"/>
                    <a:pt x="719887" y="141385"/>
                  </a:cubicBezTo>
                  <a:lnTo>
                    <a:pt x="70693" y="141385"/>
                  </a:lnTo>
                  <a:cubicBezTo>
                    <a:pt x="31650" y="141385"/>
                    <a:pt x="0" y="109735"/>
                    <a:pt x="0" y="70693"/>
                  </a:cubicBezTo>
                  <a:lnTo>
                    <a:pt x="0" y="70693"/>
                  </a:lnTo>
                  <a:cubicBezTo>
                    <a:pt x="0" y="31650"/>
                    <a:pt x="31650" y="0"/>
                    <a:pt x="70693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790580" cy="16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rot="-10800000">
            <a:off x="11809766" y="3009583"/>
            <a:ext cx="803172" cy="489935"/>
          </a:xfrm>
          <a:custGeom>
            <a:avLst/>
            <a:gdLst/>
            <a:ahLst/>
            <a:cxnLst/>
            <a:rect l="l" t="t" r="r" b="b"/>
            <a:pathLst>
              <a:path w="803172" h="489935">
                <a:moveTo>
                  <a:pt x="0" y="0"/>
                </a:moveTo>
                <a:lnTo>
                  <a:pt x="803172" y="0"/>
                </a:lnTo>
                <a:lnTo>
                  <a:pt x="803172" y="489935"/>
                </a:lnTo>
                <a:lnTo>
                  <a:pt x="0" y="48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0893181" y="3028260"/>
            <a:ext cx="577556" cy="452582"/>
            <a:chOff x="0" y="0"/>
            <a:chExt cx="1015093" cy="79544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15093" cy="795442"/>
            </a:xfrm>
            <a:custGeom>
              <a:avLst/>
              <a:gdLst/>
              <a:ahLst/>
              <a:cxnLst/>
              <a:rect l="l" t="t" r="r" b="b"/>
              <a:pathLst>
                <a:path w="1015093" h="795442">
                  <a:moveTo>
                    <a:pt x="1015093" y="397721"/>
                  </a:moveTo>
                  <a:lnTo>
                    <a:pt x="608693" y="0"/>
                  </a:lnTo>
                  <a:lnTo>
                    <a:pt x="608693" y="203200"/>
                  </a:lnTo>
                  <a:lnTo>
                    <a:pt x="0" y="203200"/>
                  </a:lnTo>
                  <a:lnTo>
                    <a:pt x="0" y="592242"/>
                  </a:lnTo>
                  <a:lnTo>
                    <a:pt x="608693" y="592242"/>
                  </a:lnTo>
                  <a:lnTo>
                    <a:pt x="608693" y="795442"/>
                  </a:lnTo>
                  <a:lnTo>
                    <a:pt x="1015093" y="397721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136525"/>
              <a:ext cx="913493" cy="45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869805" y="2979531"/>
            <a:ext cx="2282428" cy="408184"/>
            <a:chOff x="0" y="0"/>
            <a:chExt cx="790580" cy="14138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90580" cy="141385"/>
            </a:xfrm>
            <a:custGeom>
              <a:avLst/>
              <a:gdLst/>
              <a:ahLst/>
              <a:cxnLst/>
              <a:rect l="l" t="t" r="r" b="b"/>
              <a:pathLst>
                <a:path w="790580" h="141385">
                  <a:moveTo>
                    <a:pt x="70693" y="0"/>
                  </a:moveTo>
                  <a:lnTo>
                    <a:pt x="719887" y="0"/>
                  </a:lnTo>
                  <a:cubicBezTo>
                    <a:pt x="738636" y="0"/>
                    <a:pt x="756617" y="7448"/>
                    <a:pt x="769874" y="20705"/>
                  </a:cubicBezTo>
                  <a:cubicBezTo>
                    <a:pt x="783132" y="33963"/>
                    <a:pt x="790580" y="51944"/>
                    <a:pt x="790580" y="70693"/>
                  </a:cubicBezTo>
                  <a:lnTo>
                    <a:pt x="790580" y="70693"/>
                  </a:lnTo>
                  <a:cubicBezTo>
                    <a:pt x="790580" y="109735"/>
                    <a:pt x="758930" y="141385"/>
                    <a:pt x="719887" y="141385"/>
                  </a:cubicBezTo>
                  <a:lnTo>
                    <a:pt x="70693" y="141385"/>
                  </a:lnTo>
                  <a:cubicBezTo>
                    <a:pt x="31650" y="141385"/>
                    <a:pt x="0" y="109735"/>
                    <a:pt x="0" y="70693"/>
                  </a:cubicBezTo>
                  <a:lnTo>
                    <a:pt x="0" y="70693"/>
                  </a:lnTo>
                  <a:cubicBezTo>
                    <a:pt x="0" y="31650"/>
                    <a:pt x="31650" y="0"/>
                    <a:pt x="70693" y="0"/>
                  </a:cubicBezTo>
                  <a:close/>
                </a:path>
              </a:pathLst>
            </a:custGeom>
            <a:solidFill>
              <a:srgbClr val="0C1E37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790580" cy="160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60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 rot="-10800000">
            <a:off x="15685991" y="2979531"/>
            <a:ext cx="669153" cy="408184"/>
          </a:xfrm>
          <a:custGeom>
            <a:avLst/>
            <a:gdLst/>
            <a:ahLst/>
            <a:cxnLst/>
            <a:rect l="l" t="t" r="r" b="b"/>
            <a:pathLst>
              <a:path w="669153" h="408184">
                <a:moveTo>
                  <a:pt x="0" y="0"/>
                </a:moveTo>
                <a:lnTo>
                  <a:pt x="669153" y="0"/>
                </a:lnTo>
                <a:lnTo>
                  <a:pt x="669153" y="408183"/>
                </a:lnTo>
                <a:lnTo>
                  <a:pt x="0" y="4081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14922348" y="2995091"/>
            <a:ext cx="481184" cy="377063"/>
            <a:chOff x="0" y="0"/>
            <a:chExt cx="1015093" cy="79544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15093" cy="795442"/>
            </a:xfrm>
            <a:custGeom>
              <a:avLst/>
              <a:gdLst/>
              <a:ahLst/>
              <a:cxnLst/>
              <a:rect l="l" t="t" r="r" b="b"/>
              <a:pathLst>
                <a:path w="1015093" h="795442">
                  <a:moveTo>
                    <a:pt x="1015093" y="397721"/>
                  </a:moveTo>
                  <a:lnTo>
                    <a:pt x="608693" y="0"/>
                  </a:lnTo>
                  <a:lnTo>
                    <a:pt x="608693" y="203200"/>
                  </a:lnTo>
                  <a:lnTo>
                    <a:pt x="0" y="203200"/>
                  </a:lnTo>
                  <a:lnTo>
                    <a:pt x="0" y="592242"/>
                  </a:lnTo>
                  <a:lnTo>
                    <a:pt x="608693" y="592242"/>
                  </a:lnTo>
                  <a:lnTo>
                    <a:pt x="608693" y="795442"/>
                  </a:lnTo>
                  <a:lnTo>
                    <a:pt x="1015093" y="397721"/>
                  </a:ln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136525"/>
              <a:ext cx="913493" cy="45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913502" y="4854243"/>
            <a:ext cx="14284521" cy="2339210"/>
          </a:xfrm>
          <a:custGeom>
            <a:avLst/>
            <a:gdLst/>
            <a:ahLst/>
            <a:cxnLst/>
            <a:rect l="l" t="t" r="r" b="b"/>
            <a:pathLst>
              <a:path w="14284521" h="2339210">
                <a:moveTo>
                  <a:pt x="0" y="0"/>
                </a:moveTo>
                <a:lnTo>
                  <a:pt x="14284521" y="0"/>
                </a:lnTo>
                <a:lnTo>
                  <a:pt x="14284521" y="2339210"/>
                </a:lnTo>
                <a:lnTo>
                  <a:pt x="0" y="2339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2676459" y="859749"/>
            <a:ext cx="13095684" cy="804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  <a:spcBef>
                <a:spcPct val="0"/>
              </a:spcBef>
            </a:pPr>
            <a:r>
              <a:rPr lang="en-US" sz="5318" b="1">
                <a:solidFill>
                  <a:srgbClr val="079E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Data Preprocessing &amp; MNAR Mechanism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17995" y="3627475"/>
            <a:ext cx="2556095" cy="38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278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Raw 10-K / 10-Q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86960" y="3130552"/>
            <a:ext cx="1227278" cy="27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  <a:spcBef>
                <a:spcPct val="0"/>
              </a:spcBef>
            </a:pPr>
            <a:r>
              <a:rPr lang="en-US" sz="1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 XBRL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897618" y="3130552"/>
            <a:ext cx="1301428" cy="27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  <a:spcBef>
                <a:spcPct val="0"/>
              </a:spcBef>
            </a:pPr>
            <a:r>
              <a:rPr lang="en-US" sz="1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Filing Audit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24357" y="3130552"/>
            <a:ext cx="425992" cy="2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3"/>
              </a:lnSpc>
              <a:spcBef>
                <a:spcPct val="0"/>
              </a:spcBef>
            </a:pPr>
            <a:r>
              <a:rPr lang="en-US" sz="1825" b="1">
                <a:solidFill>
                  <a:srgbClr val="DAF2FF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35014" y="3130552"/>
            <a:ext cx="425992" cy="2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3"/>
              </a:lnSpc>
              <a:spcBef>
                <a:spcPct val="0"/>
              </a:spcBef>
            </a:pPr>
            <a:r>
              <a:rPr lang="en-US" sz="1825" b="1">
                <a:solidFill>
                  <a:srgbClr val="DAF2FF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35014" y="3627475"/>
            <a:ext cx="2771592" cy="38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278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SHA-256 validation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736410" y="3112078"/>
            <a:ext cx="1785840" cy="27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  <a:spcBef>
                <a:spcPct val="0"/>
              </a:spcBef>
            </a:pPr>
            <a:r>
              <a:rPr lang="en-US" sz="1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Rolling Window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973807" y="3112078"/>
            <a:ext cx="425992" cy="2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3"/>
              </a:lnSpc>
              <a:spcBef>
                <a:spcPct val="0"/>
              </a:spcBef>
            </a:pPr>
            <a:r>
              <a:rPr lang="en-US" sz="1825" b="1">
                <a:solidFill>
                  <a:srgbClr val="DAF2FF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172389" y="3609001"/>
            <a:ext cx="2374428" cy="38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278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8-quarter spans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2760959" y="3112078"/>
            <a:ext cx="1363100" cy="275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9"/>
              </a:lnSpc>
              <a:spcBef>
                <a:spcPct val="0"/>
              </a:spcBef>
            </a:pPr>
            <a:r>
              <a:rPr lang="en-US" sz="177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MNAR Audit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998356" y="3112078"/>
            <a:ext cx="425992" cy="28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3"/>
              </a:lnSpc>
              <a:spcBef>
                <a:spcPct val="0"/>
              </a:spcBef>
            </a:pPr>
            <a:r>
              <a:rPr lang="en-US" sz="1825" b="1">
                <a:solidFill>
                  <a:srgbClr val="DAF2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2166105" y="3609001"/>
            <a:ext cx="2436094" cy="380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sz="2278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703 missing cells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6478467" y="3063334"/>
            <a:ext cx="1249722" cy="231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40"/>
              </a:lnSpc>
              <a:spcBef>
                <a:spcPct val="0"/>
              </a:spcBef>
            </a:pPr>
            <a:r>
              <a:rPr lang="en-US" sz="14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Matrix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843112" y="3063334"/>
            <a:ext cx="354911" cy="237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4"/>
              </a:lnSpc>
              <a:spcBef>
                <a:spcPct val="0"/>
              </a:spcBef>
            </a:pPr>
            <a:r>
              <a:rPr lang="en-US" sz="1520" b="1">
                <a:solidFill>
                  <a:srgbClr val="DAF2FF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5888887" y="3482097"/>
            <a:ext cx="2217571" cy="313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2"/>
              </a:lnSpc>
            </a:pPr>
            <a:r>
              <a:rPr lang="en-US" sz="1898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47 scaled features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021967" y="-933973"/>
            <a:ext cx="4669656" cy="3391337"/>
          </a:xfrm>
          <a:custGeom>
            <a:avLst/>
            <a:gdLst/>
            <a:ahLst/>
            <a:cxnLst/>
            <a:rect l="l" t="t" r="r" b="b"/>
            <a:pathLst>
              <a:path w="4669656" h="3391337">
                <a:moveTo>
                  <a:pt x="0" y="0"/>
                </a:moveTo>
                <a:lnTo>
                  <a:pt x="4669656" y="0"/>
                </a:lnTo>
                <a:lnTo>
                  <a:pt x="4669656" y="3391337"/>
                </a:lnTo>
                <a:lnTo>
                  <a:pt x="0" y="3391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27267" y="2805878"/>
            <a:ext cx="17056073" cy="4028087"/>
          </a:xfrm>
          <a:custGeom>
            <a:avLst/>
            <a:gdLst/>
            <a:ahLst/>
            <a:cxnLst/>
            <a:rect l="l" t="t" r="r" b="b"/>
            <a:pathLst>
              <a:path w="17056073" h="4028087">
                <a:moveTo>
                  <a:pt x="0" y="0"/>
                </a:moveTo>
                <a:lnTo>
                  <a:pt x="17056074" y="0"/>
                </a:lnTo>
                <a:lnTo>
                  <a:pt x="17056074" y="4028087"/>
                </a:lnTo>
                <a:lnTo>
                  <a:pt x="0" y="4028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7267" y="1066800"/>
            <a:ext cx="12004477" cy="737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59"/>
              </a:lnSpc>
              <a:spcBef>
                <a:spcPct val="0"/>
              </a:spcBef>
            </a:pPr>
            <a:r>
              <a:rPr lang="en-US" sz="5100" b="1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FOUR FAMIL</a:t>
            </a:r>
            <a:r>
              <a:rPr lang="en-US" sz="5100" b="1" u="none" strike="noStrike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Y MODEL BENCHMARKING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0671" y="8820593"/>
            <a:ext cx="16802670" cy="80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Selection Rationale: </a:t>
            </a:r>
            <a:r>
              <a:rPr lang="en-US" sz="22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Random Forest selected as production champion with superior cross-company AP (0.9577), good calibration (Brier 0.058), and robust resistance to MLP cross-company collapse (−0.2623).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994407" y="-42015"/>
            <a:ext cx="4293593" cy="2141429"/>
          </a:xfrm>
          <a:custGeom>
            <a:avLst/>
            <a:gdLst/>
            <a:ahLst/>
            <a:cxnLst/>
            <a:rect l="l" t="t" r="r" b="b"/>
            <a:pathLst>
              <a:path w="4293593" h="2141429">
                <a:moveTo>
                  <a:pt x="0" y="0"/>
                </a:moveTo>
                <a:lnTo>
                  <a:pt x="4293593" y="0"/>
                </a:lnTo>
                <a:lnTo>
                  <a:pt x="4293593" y="2141430"/>
                </a:lnTo>
                <a:lnTo>
                  <a:pt x="0" y="21414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57408" y="2501021"/>
            <a:ext cx="9811677" cy="5311069"/>
            <a:chOff x="0" y="0"/>
            <a:chExt cx="13082236" cy="7081425"/>
          </a:xfrm>
        </p:grpSpPr>
        <p:sp>
          <p:nvSpPr>
            <p:cNvPr id="4" name="Freeform 4"/>
            <p:cNvSpPr/>
            <p:nvPr/>
          </p:nvSpPr>
          <p:spPr>
            <a:xfrm rot="-5400000">
              <a:off x="1834183" y="-1834183"/>
              <a:ext cx="7081425" cy="10749792"/>
            </a:xfrm>
            <a:custGeom>
              <a:avLst/>
              <a:gdLst/>
              <a:ahLst/>
              <a:cxnLst/>
              <a:rect l="l" t="t" r="r" b="b"/>
              <a:pathLst>
                <a:path w="7081425" h="10749792">
                  <a:moveTo>
                    <a:pt x="0" y="0"/>
                  </a:moveTo>
                  <a:lnTo>
                    <a:pt x="7081426" y="0"/>
                  </a:lnTo>
                  <a:lnTo>
                    <a:pt x="7081426" y="10749792"/>
                  </a:lnTo>
                  <a:lnTo>
                    <a:pt x="0" y="10749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8417347" y="0"/>
              <a:ext cx="4664889" cy="7081425"/>
            </a:xfrm>
            <a:custGeom>
              <a:avLst/>
              <a:gdLst/>
              <a:ahLst/>
              <a:cxnLst/>
              <a:rect l="l" t="t" r="r" b="b"/>
              <a:pathLst>
                <a:path w="4664889" h="7081425">
                  <a:moveTo>
                    <a:pt x="0" y="0"/>
                  </a:moveTo>
                  <a:lnTo>
                    <a:pt x="4664889" y="0"/>
                  </a:lnTo>
                  <a:lnTo>
                    <a:pt x="4664889" y="7081425"/>
                  </a:lnTo>
                  <a:lnTo>
                    <a:pt x="0" y="7081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5400000">
            <a:off x="-497263" y="7411763"/>
            <a:ext cx="3217105" cy="3217105"/>
          </a:xfrm>
          <a:custGeom>
            <a:avLst/>
            <a:gdLst/>
            <a:ahLst/>
            <a:cxnLst/>
            <a:rect l="l" t="t" r="r" b="b"/>
            <a:pathLst>
              <a:path w="3217105" h="3217105">
                <a:moveTo>
                  <a:pt x="0" y="0"/>
                </a:moveTo>
                <a:lnTo>
                  <a:pt x="3217106" y="0"/>
                </a:lnTo>
                <a:lnTo>
                  <a:pt x="3217106" y="3217105"/>
                </a:lnTo>
                <a:lnTo>
                  <a:pt x="0" y="3217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98330" y="3408884"/>
            <a:ext cx="6648007" cy="3495344"/>
          </a:xfrm>
          <a:custGeom>
            <a:avLst/>
            <a:gdLst/>
            <a:ahLst/>
            <a:cxnLst/>
            <a:rect l="l" t="t" r="r" b="b"/>
            <a:pathLst>
              <a:path w="6648007" h="3495344">
                <a:moveTo>
                  <a:pt x="0" y="0"/>
                </a:moveTo>
                <a:lnTo>
                  <a:pt x="6648006" y="0"/>
                </a:lnTo>
                <a:lnTo>
                  <a:pt x="6648006" y="3495344"/>
                </a:lnTo>
                <a:lnTo>
                  <a:pt x="0" y="34953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937622" y="2687483"/>
            <a:ext cx="8078299" cy="4938145"/>
          </a:xfrm>
          <a:custGeom>
            <a:avLst/>
            <a:gdLst/>
            <a:ahLst/>
            <a:cxnLst/>
            <a:rect l="l" t="t" r="r" b="b"/>
            <a:pathLst>
              <a:path w="8078299" h="4938145">
                <a:moveTo>
                  <a:pt x="0" y="0"/>
                </a:moveTo>
                <a:lnTo>
                  <a:pt x="8078299" y="0"/>
                </a:lnTo>
                <a:lnTo>
                  <a:pt x="8078299" y="4938145"/>
                </a:lnTo>
                <a:lnTo>
                  <a:pt x="0" y="493814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81426" y="573565"/>
            <a:ext cx="10727518" cy="832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14"/>
              </a:lnSpc>
              <a:spcBef>
                <a:spcPct val="0"/>
              </a:spcBef>
            </a:pPr>
            <a:r>
              <a:rPr lang="en-US" sz="5792" b="1">
                <a:solidFill>
                  <a:srgbClr val="079E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Confusion</a:t>
            </a:r>
            <a:r>
              <a:rPr lang="en-US" sz="5792" b="1" u="none" strike="noStrike">
                <a:solidFill>
                  <a:srgbClr val="079E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 Matrix &amp; Error Audit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19843" y="8703450"/>
            <a:ext cx="15296078" cy="614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Error Audit Finding: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2 of 3 test errors (HD-2024Q2 &amp; DG-2025Q2) occurred within 0.01 of the decision boundary, confirming razor-sharp classification margin across the locked period.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10477" y="1028700"/>
            <a:ext cx="8843503" cy="8565467"/>
          </a:xfrm>
          <a:custGeom>
            <a:avLst/>
            <a:gdLst/>
            <a:ahLst/>
            <a:cxnLst/>
            <a:rect l="l" t="t" r="r" b="b"/>
            <a:pathLst>
              <a:path w="8843503" h="8565467">
                <a:moveTo>
                  <a:pt x="0" y="0"/>
                </a:moveTo>
                <a:lnTo>
                  <a:pt x="8843503" y="0"/>
                </a:lnTo>
                <a:lnTo>
                  <a:pt x="8843503" y="8565467"/>
                </a:lnTo>
                <a:lnTo>
                  <a:pt x="0" y="8565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360"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1396821" y="2443214"/>
            <a:ext cx="7840415" cy="7073296"/>
          </a:xfrm>
          <a:custGeom>
            <a:avLst/>
            <a:gdLst/>
            <a:ahLst/>
            <a:cxnLst/>
            <a:rect l="l" t="t" r="r" b="b"/>
            <a:pathLst>
              <a:path w="7840415" h="7073296">
                <a:moveTo>
                  <a:pt x="0" y="0"/>
                </a:moveTo>
                <a:lnTo>
                  <a:pt x="7840416" y="0"/>
                </a:lnTo>
                <a:lnTo>
                  <a:pt x="7840416" y="7073295"/>
                </a:lnTo>
                <a:lnTo>
                  <a:pt x="0" y="7073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9509665" y="1259246"/>
            <a:ext cx="7866741" cy="7154652"/>
            <a:chOff x="0" y="0"/>
            <a:chExt cx="2071899" cy="188435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1899" cy="1884353"/>
            </a:xfrm>
            <a:custGeom>
              <a:avLst/>
              <a:gdLst/>
              <a:ahLst/>
              <a:cxnLst/>
              <a:rect l="l" t="t" r="r" b="b"/>
              <a:pathLst>
                <a:path w="2071899" h="1884353">
                  <a:moveTo>
                    <a:pt x="66921" y="0"/>
                  </a:moveTo>
                  <a:lnTo>
                    <a:pt x="2004978" y="0"/>
                  </a:lnTo>
                  <a:cubicBezTo>
                    <a:pt x="2022726" y="0"/>
                    <a:pt x="2039748" y="7051"/>
                    <a:pt x="2052298" y="19601"/>
                  </a:cubicBezTo>
                  <a:cubicBezTo>
                    <a:pt x="2064848" y="32151"/>
                    <a:pt x="2071899" y="49172"/>
                    <a:pt x="2071899" y="66921"/>
                  </a:cubicBezTo>
                  <a:lnTo>
                    <a:pt x="2071899" y="1817432"/>
                  </a:lnTo>
                  <a:cubicBezTo>
                    <a:pt x="2071899" y="1854391"/>
                    <a:pt x="2041937" y="1884353"/>
                    <a:pt x="2004978" y="1884353"/>
                  </a:cubicBezTo>
                  <a:lnTo>
                    <a:pt x="66921" y="1884353"/>
                  </a:lnTo>
                  <a:cubicBezTo>
                    <a:pt x="49172" y="1884353"/>
                    <a:pt x="32151" y="1877302"/>
                    <a:pt x="19601" y="1864752"/>
                  </a:cubicBezTo>
                  <a:cubicBezTo>
                    <a:pt x="7051" y="1852202"/>
                    <a:pt x="0" y="1835180"/>
                    <a:pt x="0" y="1817432"/>
                  </a:cubicBezTo>
                  <a:lnTo>
                    <a:pt x="0" y="66921"/>
                  </a:lnTo>
                  <a:cubicBezTo>
                    <a:pt x="0" y="49172"/>
                    <a:pt x="7051" y="32151"/>
                    <a:pt x="19601" y="19601"/>
                  </a:cubicBezTo>
                  <a:cubicBezTo>
                    <a:pt x="32151" y="7051"/>
                    <a:pt x="49172" y="0"/>
                    <a:pt x="66921" y="0"/>
                  </a:cubicBez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071899" cy="19415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37562" y="3204475"/>
            <a:ext cx="298711" cy="305196"/>
          </a:xfrm>
          <a:custGeom>
            <a:avLst/>
            <a:gdLst/>
            <a:ahLst/>
            <a:cxnLst/>
            <a:rect l="l" t="t" r="r" b="b"/>
            <a:pathLst>
              <a:path w="298711" h="305196">
                <a:moveTo>
                  <a:pt x="0" y="0"/>
                </a:moveTo>
                <a:lnTo>
                  <a:pt x="298711" y="0"/>
                </a:lnTo>
                <a:lnTo>
                  <a:pt x="298711" y="305196"/>
                </a:lnTo>
                <a:lnTo>
                  <a:pt x="0" y="30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7562" y="5158552"/>
            <a:ext cx="298711" cy="305196"/>
          </a:xfrm>
          <a:custGeom>
            <a:avLst/>
            <a:gdLst/>
            <a:ahLst/>
            <a:cxnLst/>
            <a:rect l="l" t="t" r="r" b="b"/>
            <a:pathLst>
              <a:path w="298711" h="305196">
                <a:moveTo>
                  <a:pt x="0" y="0"/>
                </a:moveTo>
                <a:lnTo>
                  <a:pt x="298711" y="0"/>
                </a:lnTo>
                <a:lnTo>
                  <a:pt x="298711" y="305196"/>
                </a:lnTo>
                <a:lnTo>
                  <a:pt x="0" y="30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37562" y="7099495"/>
            <a:ext cx="298711" cy="305196"/>
          </a:xfrm>
          <a:custGeom>
            <a:avLst/>
            <a:gdLst/>
            <a:ahLst/>
            <a:cxnLst/>
            <a:rect l="l" t="t" r="r" b="b"/>
            <a:pathLst>
              <a:path w="298711" h="305196">
                <a:moveTo>
                  <a:pt x="0" y="0"/>
                </a:moveTo>
                <a:lnTo>
                  <a:pt x="298711" y="0"/>
                </a:lnTo>
                <a:lnTo>
                  <a:pt x="298711" y="305196"/>
                </a:lnTo>
                <a:lnTo>
                  <a:pt x="0" y="305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35496" y="-39565"/>
            <a:ext cx="1703793" cy="1774784"/>
          </a:xfrm>
          <a:custGeom>
            <a:avLst/>
            <a:gdLst/>
            <a:ahLst/>
            <a:cxnLst/>
            <a:rect l="l" t="t" r="r" b="b"/>
            <a:pathLst>
              <a:path w="1703793" h="1774784">
                <a:moveTo>
                  <a:pt x="0" y="0"/>
                </a:moveTo>
                <a:lnTo>
                  <a:pt x="1703792" y="0"/>
                </a:lnTo>
                <a:lnTo>
                  <a:pt x="1703792" y="1774784"/>
                </a:lnTo>
                <a:lnTo>
                  <a:pt x="0" y="1774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04200" y="3100983"/>
            <a:ext cx="4961013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Reduces human error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04200" y="5055060"/>
            <a:ext cx="5923993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Improves decision-making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04200" y="3651269"/>
            <a:ext cx="5346016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AI systems process complex data with high precision, minimizing mistakes that can lead to costly financial losses.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04200" y="5605346"/>
            <a:ext cx="5791841" cy="1009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By analyzing patterns and predicting outcomes, AI supports financial professionals in making more informed and strategic decisions.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04200" y="7014411"/>
            <a:ext cx="5923993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Automates repetitive tasks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1259246"/>
            <a:ext cx="7662478" cy="7279011"/>
            <a:chOff x="0" y="0"/>
            <a:chExt cx="2018101" cy="19171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18101" cy="1917106"/>
            </a:xfrm>
            <a:custGeom>
              <a:avLst/>
              <a:gdLst/>
              <a:ahLst/>
              <a:cxnLst/>
              <a:rect l="l" t="t" r="r" b="b"/>
              <a:pathLst>
                <a:path w="2018101" h="1917106">
                  <a:moveTo>
                    <a:pt x="68705" y="0"/>
                  </a:moveTo>
                  <a:lnTo>
                    <a:pt x="1949397" y="0"/>
                  </a:lnTo>
                  <a:cubicBezTo>
                    <a:pt x="1987341" y="0"/>
                    <a:pt x="2018101" y="30760"/>
                    <a:pt x="2018101" y="68705"/>
                  </a:cubicBezTo>
                  <a:lnTo>
                    <a:pt x="2018101" y="1848401"/>
                  </a:lnTo>
                  <a:cubicBezTo>
                    <a:pt x="2018101" y="1886346"/>
                    <a:pt x="1987341" y="1917106"/>
                    <a:pt x="1949397" y="1917106"/>
                  </a:cubicBezTo>
                  <a:lnTo>
                    <a:pt x="68705" y="1917106"/>
                  </a:lnTo>
                  <a:cubicBezTo>
                    <a:pt x="30760" y="1917106"/>
                    <a:pt x="0" y="1886346"/>
                    <a:pt x="0" y="1848401"/>
                  </a:cubicBezTo>
                  <a:lnTo>
                    <a:pt x="0" y="68705"/>
                  </a:lnTo>
                  <a:cubicBezTo>
                    <a:pt x="0" y="30760"/>
                    <a:pt x="30760" y="0"/>
                    <a:pt x="68705" y="0"/>
                  </a:cubicBez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2018101" cy="19742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5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1253655" y="4310302"/>
            <a:ext cx="7025299" cy="1622865"/>
          </a:xfrm>
          <a:custGeom>
            <a:avLst/>
            <a:gdLst/>
            <a:ahLst/>
            <a:cxnLst/>
            <a:rect l="l" t="t" r="r" b="b"/>
            <a:pathLst>
              <a:path w="7025299" h="1622865">
                <a:moveTo>
                  <a:pt x="0" y="0"/>
                </a:moveTo>
                <a:lnTo>
                  <a:pt x="7025298" y="0"/>
                </a:lnTo>
                <a:lnTo>
                  <a:pt x="7025298" y="1622865"/>
                </a:lnTo>
                <a:lnTo>
                  <a:pt x="0" y="16228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05499" y="4310302"/>
            <a:ext cx="7275071" cy="1609334"/>
          </a:xfrm>
          <a:custGeom>
            <a:avLst/>
            <a:gdLst/>
            <a:ahLst/>
            <a:cxnLst/>
            <a:rect l="l" t="t" r="r" b="b"/>
            <a:pathLst>
              <a:path w="7275071" h="1609334">
                <a:moveTo>
                  <a:pt x="0" y="0"/>
                </a:moveTo>
                <a:lnTo>
                  <a:pt x="7275072" y="0"/>
                </a:lnTo>
                <a:lnTo>
                  <a:pt x="7275072" y="1609334"/>
                </a:lnTo>
                <a:lnTo>
                  <a:pt x="0" y="16093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8700" y="8944339"/>
            <a:ext cx="16347705" cy="946099"/>
          </a:xfrm>
          <a:custGeom>
            <a:avLst/>
            <a:gdLst/>
            <a:ahLst/>
            <a:cxnLst/>
            <a:rect l="l" t="t" r="r" b="b"/>
            <a:pathLst>
              <a:path w="16347705" h="946099">
                <a:moveTo>
                  <a:pt x="0" y="0"/>
                </a:moveTo>
                <a:lnTo>
                  <a:pt x="16347705" y="0"/>
                </a:lnTo>
                <a:lnTo>
                  <a:pt x="16347705" y="946098"/>
                </a:lnTo>
                <a:lnTo>
                  <a:pt x="0" y="9460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913693" y="303952"/>
            <a:ext cx="14393568" cy="717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0"/>
              </a:lnSpc>
            </a:pPr>
            <a:r>
              <a:rPr lang="en-US" sz="5000" b="1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COST &amp; CALIBRATION OPTIMIZATION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97293" y="2307283"/>
            <a:ext cx="4574828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PANEL A • ASYMMETRIC LOSS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10748" y="2274646"/>
            <a:ext cx="5916811" cy="44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PANEL B • CALIBRATION ADJUSTMENT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8268" y="3128275"/>
            <a:ext cx="523607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BAYES DECISION CRITERION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13693" y="6376680"/>
            <a:ext cx="5705222" cy="1208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Bayes Risk Minimization: </a:t>
            </a:r>
            <a:r>
              <a:rPr lang="en-US" sz="22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Theoretical threshold p* = C(FP) / [C(FP) + C(FN)] = 1.0 / 6.0 = 0.1667.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03899" y="3057035"/>
            <a:ext cx="5656659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THRESHOLDING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48556" y="6376680"/>
            <a:ext cx="6388959" cy="160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Operational Prudence: </a:t>
            </a:r>
            <a:r>
              <a:rPr lang="en-US" sz="228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Empirical threshold t = 0.7879 trading off 2 FNs + 1 FP ⇒ cost of 11 ⇒ not Bayes-optimal because RF's p̂ is uncalibrated (ECE 0.109)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523314" y="-412727"/>
            <a:ext cx="2324289" cy="2318478"/>
          </a:xfrm>
          <a:custGeom>
            <a:avLst/>
            <a:gdLst/>
            <a:ahLst/>
            <a:cxnLst/>
            <a:rect l="l" t="t" r="r" b="b"/>
            <a:pathLst>
              <a:path w="2324289" h="2318478">
                <a:moveTo>
                  <a:pt x="0" y="0"/>
                </a:moveTo>
                <a:lnTo>
                  <a:pt x="2324288" y="0"/>
                </a:lnTo>
                <a:lnTo>
                  <a:pt x="2324288" y="2318478"/>
                </a:lnTo>
                <a:lnTo>
                  <a:pt x="0" y="23184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" name="Freeform 2"/>
          <p:cNvSpPr/>
          <p:nvPr/>
        </p:nvSpPr>
        <p:spPr>
          <a:xfrm>
            <a:off x="16698058" y="7083940"/>
            <a:ext cx="2294869" cy="3272541"/>
          </a:xfrm>
          <a:custGeom>
            <a:avLst/>
            <a:gdLst/>
            <a:ahLst/>
            <a:cxnLst/>
            <a:rect l="l" t="t" r="r" b="b"/>
            <a:pathLst>
              <a:path w="2294869" h="3272541">
                <a:moveTo>
                  <a:pt x="0" y="0"/>
                </a:moveTo>
                <a:lnTo>
                  <a:pt x="2294869" y="0"/>
                </a:lnTo>
                <a:lnTo>
                  <a:pt x="2294869" y="3272541"/>
                </a:lnTo>
                <a:lnTo>
                  <a:pt x="0" y="32725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523314" y="6363802"/>
            <a:ext cx="9667314" cy="4712816"/>
          </a:xfrm>
          <a:custGeom>
            <a:avLst/>
            <a:gdLst/>
            <a:ahLst/>
            <a:cxnLst/>
            <a:rect l="l" t="t" r="r" b="b"/>
            <a:pathLst>
              <a:path w="9667314" h="4712816">
                <a:moveTo>
                  <a:pt x="0" y="0"/>
                </a:moveTo>
                <a:lnTo>
                  <a:pt x="9667314" y="0"/>
                </a:lnTo>
                <a:lnTo>
                  <a:pt x="9667314" y="4712816"/>
                </a:lnTo>
                <a:lnTo>
                  <a:pt x="0" y="47128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38900" y="7225475"/>
            <a:ext cx="2075233" cy="2075233"/>
          </a:xfrm>
          <a:custGeom>
            <a:avLst/>
            <a:gdLst/>
            <a:ahLst/>
            <a:cxnLst/>
            <a:rect l="l" t="t" r="r" b="b"/>
            <a:pathLst>
              <a:path w="2075233" h="2075233">
                <a:moveTo>
                  <a:pt x="0" y="0"/>
                </a:moveTo>
                <a:lnTo>
                  <a:pt x="2075233" y="0"/>
                </a:lnTo>
                <a:lnTo>
                  <a:pt x="2075233" y="2075233"/>
                </a:lnTo>
                <a:lnTo>
                  <a:pt x="0" y="2075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67766" y="2722070"/>
            <a:ext cx="17377727" cy="2655578"/>
          </a:xfrm>
          <a:custGeom>
            <a:avLst/>
            <a:gdLst/>
            <a:ahLst/>
            <a:cxnLst/>
            <a:rect l="l" t="t" r="r" b="b"/>
            <a:pathLst>
              <a:path w="17377727" h="2655578">
                <a:moveTo>
                  <a:pt x="0" y="0"/>
                </a:moveTo>
                <a:lnTo>
                  <a:pt x="17377727" y="0"/>
                </a:lnTo>
                <a:lnTo>
                  <a:pt x="17377727" y="2655578"/>
                </a:lnTo>
                <a:lnTo>
                  <a:pt x="0" y="2655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076516" y="648787"/>
            <a:ext cx="15345876" cy="108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274"/>
              </a:lnSpc>
            </a:pPr>
            <a:r>
              <a:rPr lang="en-US" sz="7591" b="1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47-Feature Taxonomy &amp; Ablation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87358" y="7814172"/>
            <a:ext cx="4843578" cy="1425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a decrease of </a:t>
            </a:r>
            <a:r>
              <a:rPr lang="en-US" sz="2000" b="1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−0.0172 AUROC</a:t>
            </a:r>
            <a:r>
              <a:rPr lang="en-US" sz="2000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 (the largest among the 6 folds, but within the uncertainty of the 64 test samples)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87358" y="7158800"/>
            <a:ext cx="3309938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KEY ABLATION INSIGHT</a:t>
            </a:r>
          </a:p>
        </p:txBody>
      </p:sp>
      <p:sp>
        <p:nvSpPr>
          <p:cNvPr id="10" name="Freeform 10"/>
          <p:cNvSpPr/>
          <p:nvPr/>
        </p:nvSpPr>
        <p:spPr>
          <a:xfrm flipH="1">
            <a:off x="9544050" y="6363802"/>
            <a:ext cx="9667314" cy="4712816"/>
          </a:xfrm>
          <a:custGeom>
            <a:avLst/>
            <a:gdLst/>
            <a:ahLst/>
            <a:cxnLst/>
            <a:rect l="l" t="t" r="r" b="b"/>
            <a:pathLst>
              <a:path w="9667314" h="4712816">
                <a:moveTo>
                  <a:pt x="9667314" y="0"/>
                </a:moveTo>
                <a:lnTo>
                  <a:pt x="0" y="0"/>
                </a:lnTo>
                <a:lnTo>
                  <a:pt x="0" y="4712816"/>
                </a:lnTo>
                <a:lnTo>
                  <a:pt x="9667314" y="4712816"/>
                </a:lnTo>
                <a:lnTo>
                  <a:pt x="9667314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1027628" y="7797873"/>
            <a:ext cx="4843578" cy="17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Latest-quarter solvency metrics carry virtually all actionable predictive information; historical multi-quarter trajectory features provide minimal marginal utility.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27628" y="7158800"/>
            <a:ext cx="3638550" cy="408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sz="228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PRACTICAL CONCLUSION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8198073" y="2193626"/>
            <a:ext cx="12927677" cy="6092168"/>
          </a:xfrm>
          <a:custGeom>
            <a:avLst/>
            <a:gdLst/>
            <a:ahLst/>
            <a:cxnLst/>
            <a:rect l="l" t="t" r="r" b="b"/>
            <a:pathLst>
              <a:path w="12927677" h="6092168">
                <a:moveTo>
                  <a:pt x="0" y="0"/>
                </a:moveTo>
                <a:lnTo>
                  <a:pt x="12927677" y="0"/>
                </a:lnTo>
                <a:lnTo>
                  <a:pt x="12927677" y="6092168"/>
                </a:lnTo>
                <a:lnTo>
                  <a:pt x="0" y="60921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3" name="Group 3"/>
          <p:cNvGrpSpPr/>
          <p:nvPr/>
        </p:nvGrpSpPr>
        <p:grpSpPr>
          <a:xfrm>
            <a:off x="13440040" y="-237753"/>
            <a:ext cx="5139659" cy="11299155"/>
            <a:chOff x="0" y="0"/>
            <a:chExt cx="796268" cy="17505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96268" cy="1750535"/>
            </a:xfrm>
            <a:custGeom>
              <a:avLst/>
              <a:gdLst/>
              <a:ahLst/>
              <a:cxnLst/>
              <a:rect l="l" t="t" r="r" b="b"/>
              <a:pathLst>
                <a:path w="796268" h="1750535">
                  <a:moveTo>
                    <a:pt x="49708" y="0"/>
                  </a:moveTo>
                  <a:lnTo>
                    <a:pt x="746560" y="0"/>
                  </a:lnTo>
                  <a:cubicBezTo>
                    <a:pt x="774013" y="0"/>
                    <a:pt x="796268" y="22255"/>
                    <a:pt x="796268" y="49708"/>
                  </a:cubicBezTo>
                  <a:lnTo>
                    <a:pt x="796268" y="1700827"/>
                  </a:lnTo>
                  <a:cubicBezTo>
                    <a:pt x="796268" y="1728280"/>
                    <a:pt x="774013" y="1750535"/>
                    <a:pt x="746560" y="1750535"/>
                  </a:cubicBezTo>
                  <a:lnTo>
                    <a:pt x="49708" y="1750535"/>
                  </a:lnTo>
                  <a:cubicBezTo>
                    <a:pt x="36525" y="1750535"/>
                    <a:pt x="23881" y="1745298"/>
                    <a:pt x="14559" y="1735976"/>
                  </a:cubicBezTo>
                  <a:cubicBezTo>
                    <a:pt x="5237" y="1726654"/>
                    <a:pt x="0" y="1714010"/>
                    <a:pt x="0" y="1700827"/>
                  </a:cubicBezTo>
                  <a:lnTo>
                    <a:pt x="0" y="49708"/>
                  </a:lnTo>
                  <a:cubicBezTo>
                    <a:pt x="0" y="36525"/>
                    <a:pt x="5237" y="23881"/>
                    <a:pt x="14559" y="14559"/>
                  </a:cubicBezTo>
                  <a:cubicBezTo>
                    <a:pt x="23881" y="5237"/>
                    <a:pt x="36525" y="0"/>
                    <a:pt x="49708" y="0"/>
                  </a:cubicBezTo>
                  <a:close/>
                </a:path>
              </a:pathLst>
            </a:custGeom>
            <a:blipFill>
              <a:blip r:embed="rId3"/>
              <a:stretch>
                <a:fillRect l="-190551" r="-39418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1177147" y="3798593"/>
            <a:ext cx="5504114" cy="3859920"/>
            <a:chOff x="0" y="0"/>
            <a:chExt cx="1350952" cy="9473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50952" cy="947394"/>
            </a:xfrm>
            <a:custGeom>
              <a:avLst/>
              <a:gdLst/>
              <a:ahLst/>
              <a:cxnLst/>
              <a:rect l="l" t="t" r="r" b="b"/>
              <a:pathLst>
                <a:path w="1350952" h="947394">
                  <a:moveTo>
                    <a:pt x="45010" y="0"/>
                  </a:moveTo>
                  <a:lnTo>
                    <a:pt x="1305942" y="0"/>
                  </a:lnTo>
                  <a:cubicBezTo>
                    <a:pt x="1330800" y="0"/>
                    <a:pt x="1350952" y="20152"/>
                    <a:pt x="1350952" y="45010"/>
                  </a:cubicBezTo>
                  <a:lnTo>
                    <a:pt x="1350952" y="902384"/>
                  </a:lnTo>
                  <a:cubicBezTo>
                    <a:pt x="1350952" y="927243"/>
                    <a:pt x="1330800" y="947394"/>
                    <a:pt x="1305942" y="947394"/>
                  </a:cubicBezTo>
                  <a:lnTo>
                    <a:pt x="45010" y="947394"/>
                  </a:lnTo>
                  <a:cubicBezTo>
                    <a:pt x="20152" y="947394"/>
                    <a:pt x="0" y="927243"/>
                    <a:pt x="0" y="902384"/>
                  </a:cubicBezTo>
                  <a:lnTo>
                    <a:pt x="0" y="45010"/>
                  </a:lnTo>
                  <a:cubicBezTo>
                    <a:pt x="0" y="20152"/>
                    <a:pt x="20152" y="0"/>
                    <a:pt x="45010" y="0"/>
                  </a:cubicBez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350952" cy="1014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46252" y="1613651"/>
            <a:ext cx="11682881" cy="11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950"/>
              </a:lnSpc>
              <a:spcBef>
                <a:spcPct val="0"/>
              </a:spcBef>
            </a:pPr>
            <a:r>
              <a:rPr lang="en-US" sz="7585" b="1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Entity Shortcut L</a:t>
            </a:r>
            <a:r>
              <a:rPr lang="en-US" sz="7585" b="1" u="none" strike="noStrike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eakage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8915" y="5647001"/>
            <a:ext cx="4860578" cy="33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19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Naive Ticker AUROC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98915" y="4134502"/>
            <a:ext cx="4860578" cy="44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  <a:spcBef>
                <a:spcPct val="0"/>
              </a:spcBef>
            </a:pPr>
            <a:r>
              <a:rPr lang="en-US" sz="25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TICKER MEMORIZATION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18918" y="4667907"/>
            <a:ext cx="2438881" cy="756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38"/>
              </a:lnSpc>
              <a:spcBef>
                <a:spcPct val="0"/>
              </a:spcBef>
            </a:pPr>
            <a:r>
              <a:rPr lang="en-US" sz="4456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0.9858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03242" y="6156342"/>
            <a:ext cx="4451924" cy="1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DeLong test: p = 0.7546 vs Random Forest, proving headline AUROC can be matched via ticker memorization alone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187900" y="3798593"/>
            <a:ext cx="5504114" cy="3859920"/>
            <a:chOff x="0" y="0"/>
            <a:chExt cx="1350952" cy="94739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50952" cy="947394"/>
            </a:xfrm>
            <a:custGeom>
              <a:avLst/>
              <a:gdLst/>
              <a:ahLst/>
              <a:cxnLst/>
              <a:rect l="l" t="t" r="r" b="b"/>
              <a:pathLst>
                <a:path w="1350952" h="947394">
                  <a:moveTo>
                    <a:pt x="45010" y="0"/>
                  </a:moveTo>
                  <a:lnTo>
                    <a:pt x="1305942" y="0"/>
                  </a:lnTo>
                  <a:cubicBezTo>
                    <a:pt x="1330800" y="0"/>
                    <a:pt x="1350952" y="20152"/>
                    <a:pt x="1350952" y="45010"/>
                  </a:cubicBezTo>
                  <a:lnTo>
                    <a:pt x="1350952" y="902384"/>
                  </a:lnTo>
                  <a:cubicBezTo>
                    <a:pt x="1350952" y="927243"/>
                    <a:pt x="1330800" y="947394"/>
                    <a:pt x="1305942" y="947394"/>
                  </a:cubicBezTo>
                  <a:lnTo>
                    <a:pt x="45010" y="947394"/>
                  </a:lnTo>
                  <a:cubicBezTo>
                    <a:pt x="20152" y="947394"/>
                    <a:pt x="0" y="927243"/>
                    <a:pt x="0" y="902384"/>
                  </a:cubicBezTo>
                  <a:lnTo>
                    <a:pt x="0" y="45010"/>
                  </a:lnTo>
                  <a:cubicBezTo>
                    <a:pt x="0" y="20152"/>
                    <a:pt x="20152" y="0"/>
                    <a:pt x="45010" y="0"/>
                  </a:cubicBezTo>
                  <a:close/>
                </a:path>
              </a:pathLst>
            </a:custGeom>
            <a:solidFill>
              <a:srgbClr val="079E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350952" cy="1014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98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09668" y="5647001"/>
            <a:ext cx="4860578" cy="338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19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Unseen Retailers AUROC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9668" y="4134502"/>
            <a:ext cx="4860578" cy="449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0"/>
              </a:lnSpc>
              <a:spcBef>
                <a:spcPct val="0"/>
              </a:spcBef>
            </a:pPr>
            <a:r>
              <a:rPr lang="en-US" sz="257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LEAVE-ONE-COMPANY-OUT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44641" y="4667907"/>
            <a:ext cx="2264547" cy="756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38"/>
              </a:lnSpc>
              <a:spcBef>
                <a:spcPct val="0"/>
              </a:spcBef>
            </a:pPr>
            <a:r>
              <a:rPr lang="en-US" sz="4456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0.6280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13995" y="6156342"/>
            <a:ext cx="4451924" cy="129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Severe degradation reveals that high in-sample test scores conceal an entity-identity shortcut rather than cross-firm mechanics.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9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9324" y="-1100757"/>
            <a:ext cx="13477336" cy="6570201"/>
          </a:xfrm>
          <a:custGeom>
            <a:avLst/>
            <a:gdLst/>
            <a:ahLst/>
            <a:cxnLst/>
            <a:rect l="l" t="t" r="r" b="b"/>
            <a:pathLst>
              <a:path w="13477336" h="6570201">
                <a:moveTo>
                  <a:pt x="0" y="0"/>
                </a:moveTo>
                <a:lnTo>
                  <a:pt x="13477337" y="0"/>
                </a:lnTo>
                <a:lnTo>
                  <a:pt x="13477337" y="6570202"/>
                </a:lnTo>
                <a:lnTo>
                  <a:pt x="0" y="65702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09234" y="237623"/>
            <a:ext cx="10875868" cy="9811755"/>
          </a:xfrm>
          <a:custGeom>
            <a:avLst/>
            <a:gdLst/>
            <a:ahLst/>
            <a:cxnLst/>
            <a:rect l="l" t="t" r="r" b="b"/>
            <a:pathLst>
              <a:path w="10875868" h="9811755">
                <a:moveTo>
                  <a:pt x="0" y="0"/>
                </a:moveTo>
                <a:lnTo>
                  <a:pt x="10875868" y="0"/>
                </a:lnTo>
                <a:lnTo>
                  <a:pt x="10875868" y="9811754"/>
                </a:lnTo>
                <a:lnTo>
                  <a:pt x="0" y="9811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4" name="Group 4"/>
          <p:cNvGrpSpPr/>
          <p:nvPr/>
        </p:nvGrpSpPr>
        <p:grpSpPr>
          <a:xfrm>
            <a:off x="-488322" y="-850555"/>
            <a:ext cx="5847086" cy="11836482"/>
            <a:chOff x="0" y="0"/>
            <a:chExt cx="563141" cy="11399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63141" cy="1139989"/>
            </a:xfrm>
            <a:custGeom>
              <a:avLst/>
              <a:gdLst/>
              <a:ahLst/>
              <a:cxnLst/>
              <a:rect l="l" t="t" r="r" b="b"/>
              <a:pathLst>
                <a:path w="563141" h="1139989">
                  <a:moveTo>
                    <a:pt x="83416" y="0"/>
                  </a:moveTo>
                  <a:lnTo>
                    <a:pt x="479725" y="0"/>
                  </a:lnTo>
                  <a:cubicBezTo>
                    <a:pt x="501849" y="0"/>
                    <a:pt x="523066" y="8788"/>
                    <a:pt x="538709" y="24432"/>
                  </a:cubicBezTo>
                  <a:cubicBezTo>
                    <a:pt x="554353" y="40076"/>
                    <a:pt x="563141" y="61293"/>
                    <a:pt x="563141" y="83416"/>
                  </a:cubicBezTo>
                  <a:lnTo>
                    <a:pt x="563141" y="1056573"/>
                  </a:lnTo>
                  <a:cubicBezTo>
                    <a:pt x="563141" y="1078696"/>
                    <a:pt x="554353" y="1099913"/>
                    <a:pt x="538709" y="1115557"/>
                  </a:cubicBezTo>
                  <a:cubicBezTo>
                    <a:pt x="523066" y="1131200"/>
                    <a:pt x="501849" y="1139989"/>
                    <a:pt x="479725" y="1139989"/>
                  </a:cubicBezTo>
                  <a:lnTo>
                    <a:pt x="83416" y="1139989"/>
                  </a:lnTo>
                  <a:cubicBezTo>
                    <a:pt x="37347" y="1139989"/>
                    <a:pt x="0" y="1102642"/>
                    <a:pt x="0" y="1056573"/>
                  </a:cubicBezTo>
                  <a:lnTo>
                    <a:pt x="0" y="83416"/>
                  </a:lnTo>
                  <a:cubicBezTo>
                    <a:pt x="0" y="61293"/>
                    <a:pt x="8788" y="40076"/>
                    <a:pt x="24432" y="24432"/>
                  </a:cubicBezTo>
                  <a:cubicBezTo>
                    <a:pt x="40076" y="8788"/>
                    <a:pt x="61293" y="0"/>
                    <a:pt x="83416" y="0"/>
                  </a:cubicBezTo>
                  <a:close/>
                </a:path>
              </a:pathLst>
            </a:custGeom>
            <a:blipFill>
              <a:blip r:embed="rId5"/>
              <a:stretch>
                <a:fillRect l="-58117" r="-158185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6776557" y="1028700"/>
            <a:ext cx="1152115" cy="1479441"/>
          </a:xfrm>
          <a:custGeom>
            <a:avLst/>
            <a:gdLst/>
            <a:ahLst/>
            <a:cxnLst/>
            <a:rect l="l" t="t" r="r" b="b"/>
            <a:pathLst>
              <a:path w="1152115" h="1479441">
                <a:moveTo>
                  <a:pt x="0" y="0"/>
                </a:moveTo>
                <a:lnTo>
                  <a:pt x="1152115" y="0"/>
                </a:lnTo>
                <a:lnTo>
                  <a:pt x="1152115" y="1479441"/>
                </a:lnTo>
                <a:lnTo>
                  <a:pt x="0" y="14794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8238595" y="1066800"/>
            <a:ext cx="9020705" cy="323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070"/>
              </a:lnSpc>
              <a:spcBef>
                <a:spcPct val="0"/>
              </a:spcBef>
            </a:pPr>
            <a:r>
              <a:rPr lang="en-US" sz="4651" b="1" u="none" strike="noStrike">
                <a:solidFill>
                  <a:srgbClr val="DAF2FF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The future of finance is intelligent, adaptive, and human-centered. AI is not replacing finance, it is redefining it.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466634" y="6477144"/>
            <a:ext cx="5846629" cy="27811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70"/>
              </a:lnSpc>
              <a:spcBef>
                <a:spcPct val="0"/>
              </a:spcBef>
            </a:pPr>
            <a:r>
              <a:rPr lang="en-US" sz="6670" b="1" u="none" strike="noStrike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THANK YOU</a:t>
            </a:r>
          </a:p>
          <a:p>
            <a:pPr marL="0" lvl="0" indent="0" algn="l">
              <a:lnSpc>
                <a:spcPts val="7270"/>
              </a:lnSpc>
              <a:spcBef>
                <a:spcPct val="0"/>
              </a:spcBef>
            </a:pPr>
            <a:r>
              <a:rPr lang="en-US" sz="6670" b="1" u="none" strike="noStrike">
                <a:solidFill>
                  <a:srgbClr val="0C1E37"/>
                </a:solidFill>
                <a:latin typeface="Raleway Ultra-Bold"/>
                <a:ea typeface="Raleway Ultra-Bold"/>
                <a:cs typeface="Raleway Ultra-Bold"/>
                <a:sym typeface="Raleway Ultra-Bold"/>
              </a:rPr>
              <a:t>FOR YOUR ATTENTION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58256" y="6212395"/>
            <a:ext cx="4398405" cy="348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78"/>
              </a:lnSpc>
              <a:spcBef>
                <a:spcPct val="0"/>
              </a:spcBef>
            </a:pPr>
            <a:r>
              <a:rPr lang="en-US" sz="1852" b="1" u="none">
                <a:solidFill>
                  <a:srgbClr val="0C1E37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58256" y="6529804"/>
            <a:ext cx="4398405" cy="424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0C1E37"/>
                </a:solidFill>
                <a:latin typeface="Poppins"/>
                <a:ea typeface="Poppins"/>
                <a:cs typeface="Poppins"/>
                <a:sym typeface="Poppins"/>
              </a:rPr>
              <a:t>25730094@ms.uit.edu.vn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894</Words>
  <Application>Microsoft Office PowerPoint</Application>
  <PresentationFormat>Custom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Poppins Bold</vt:lpstr>
      <vt:lpstr>Arial</vt:lpstr>
      <vt:lpstr>Poppins</vt:lpstr>
      <vt:lpstr>Raleway Ultra-Bold</vt:lpstr>
      <vt:lpstr>Raleway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Báo Suy Giảm Tài Chính Doanh Nghiệp Bán Lẻ Từ Chỉ Số Báo Cáo Tài Chính</dc:title>
  <cp:lastModifiedBy>Home</cp:lastModifiedBy>
  <cp:revision>2</cp:revision>
  <dcterms:created xsi:type="dcterms:W3CDTF">2006-08-16T00:00:00Z</dcterms:created>
  <dcterms:modified xsi:type="dcterms:W3CDTF">2026-10-03T23:15:53Z</dcterms:modified>
  <dc:identifier>DAHWu7-dX7c</dc:identifier>
</cp:coreProperties>
</file>