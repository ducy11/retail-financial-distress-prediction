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Dự báo suy giảm tài chính doanh nghiệp bán lẻ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Dữ liệu SEC XBRL · 8 công ty · 324 mẫu · 47 feature</a:t>
            </a:r>
          </a:p>
          <a:p>
            <a:pPr marL="228600" indent="-228600">
              <a:buChar char="•"/>
            </a:pPr>
            <a:r>
              <a:rPr lang="vi-VN" sz="1400" b="0" dirty="0"/>
              <a:t>Train/Validation/Test = 212/32/64, chia theo thời gian</a:t>
            </a:r>
          </a:p>
          <a:p>
            <a:pPr marL="228600" indent="-228600">
              <a:buChar char="•"/>
            </a:pPr>
            <a:r>
              <a:rPr lang="vi-VN" sz="1400" b="0" dirty="0"/>
              <a:t>Tái lập 1 lệnh · 222 test · 98.200 phép kiểm tra, 0 phát hiện</a:t>
            </a:r>
          </a:p>
          <a:p>
            <a:pPr marL="228600" indent="-228600">
              <a:buChar char="•"/>
            </a:pPr>
            <a:r>
              <a:rPr lang="vi-VN" sz="1400" b="0" dirty="0"/>
              <a:t>Dữ liệu SEC thật: 20 file hash khớp, 4.609 fact tra ngược, 0 bịa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trung thực: mô hình không chắc hơn baseline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Bài toán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Quý kế tiếp: doanh nghiệp có suy giảm tài chính?</a:t>
            </a:r>
          </a:p>
          <a:p>
            <a:pPr marL="228600" indent="-228600">
              <a:buChar char="•"/>
            </a:pPr>
            <a:r>
              <a:rPr lang="vi-VN" sz="1400" b="0" dirty="0"/>
              <a:t>RQ1 mô hình · RQ2 đặc trưng · RQ3 công ty mới · RQ4 định nghĩa nhãn</a:t>
            </a:r>
          </a:p>
          <a:p>
            <a:pPr marL="228600" indent="-228600">
              <a:buChar char="•"/>
            </a:pPr>
            <a:r>
              <a:rPr lang="vi-VN" sz="1400" b="0" dirty="0"/>
              <a:t>Ngoài phạm vi: giá cổ phiếu, tín dụng, vĩ mô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Nhãn dương 62,3% ở cấp mẫu (IR toàn corpus = 1,66; train = 1,65)</a:t>
            </a:r>
          </a:p>
          <a:p>
            <a:pPr marL="228600" indent="-228600">
              <a:buChar char="•"/>
            </a:pPr>
            <a:r>
              <a:rPr lang="vi-VN" sz="1400" b="0" dirty="0"/>
              <a:t>Nhưng HD/LOW/WMT = 100% nhãn 1; ROST chỉ 4,7%</a:t>
            </a:r>
          </a:p>
          <a:p>
            <a:pPr marL="228600" indent="-228600">
              <a:buChar char="•"/>
            </a:pPr>
            <a:r>
              <a:rPr lang="vi-VN" sz="1400" b="0" dirty="0"/>
              <a:t>IR ở cấp công ty lên tới 20,5; 41% mẫu thuộc công ty đơn lớp</a:t>
            </a:r>
          </a:p>
          <a:p>
            <a:pPr marL="228600" indent="-228600">
              <a:buChar char="•"/>
            </a:pPr>
            <a:r>
              <a:rPr lang="vi-VN" sz="1400" b="0" dirty="0"/>
              <a:t>Baseline chỉ dùng mã công ty đạt AUROC 0,986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ba phát hiện định hình thiết kế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Khuyết có cấu trúc: 5/16 chỉ tiêu phủ dưới 50%</a:t>
            </a:r>
          </a:p>
          <a:p>
            <a:pPr marL="228600" indent="-228600">
              <a:buChar char="•"/>
            </a:pPr>
            <a:r>
              <a:rPr lang="vi-VN" sz="1400" b="0" dirty="0"/>
              <a:t>MNAR: 22/47 feature; mạnh nhất Δ = −55,7 điểm % nhãn</a:t>
            </a:r>
          </a:p>
          <a:p>
            <a:pPr marL="228600" indent="-228600">
              <a:buChar char="•"/>
            </a:pPr>
            <a:r>
              <a:rPr lang="vi-VN" sz="1400" b="0" dirty="0"/>
              <a:t>Đuôi nặng: skew −14,9; 30,6% ngoại lai ở debt_to_equity</a:t>
            </a:r>
          </a:p>
          <a:p>
            <a:pPr marL="228600" indent="-228600">
              <a:buChar char="•"/>
            </a:pPr>
            <a:r>
              <a:rPr lang="vi-VN" sz="1400" b="0" dirty="0"/>
              <a:t>Đa cộng tuyến: VIF &gt; 10 ở 33/47 cột; chỉ 12,89 chiều hiệu dụng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38687" y="4114800"/>
            <a:ext cx="2714625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chống rò rỉ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Pipeline chính: impute median → (scaler cho tuyến tính) → model</a:t>
            </a:r>
          </a:p>
          <a:p>
            <a:pPr marL="228600" indent="-228600">
              <a:buChar char="•"/>
            </a:pPr>
            <a:r>
              <a:rPr lang="vi-VN" sz="1400" b="0" dirty="0"/>
              <a:t>Mọi phép biến đổi nằm TRONG Pipeline, fit chỉ trên train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trong khoảng nhiễu)</a:t>
            </a:r>
          </a:p>
          <a:p>
            <a:pPr marL="228600" indent="-228600">
              <a:buChar char="•"/>
            </a:pPr>
            <a:r>
              <a:rPr lang="vi-VN" sz="1400" b="0" dirty="0"/>
              <a:t>Không resample; cố ý KHÔNG one-hot mã cổ phiếu</a:t>
            </a:r>
          </a:p>
          <a:p>
            <a:pPr marL="228600" indent="-228600">
              <a:buChar char="•"/>
            </a:pPr>
            <a:r>
              <a:rPr lang="vi-VN" sz="1400" b="0" dirty="0"/>
              <a:t>7 lớp kiểm soát rò rỉ + dải purge 16 mẫu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Ba họ mô hình và cách chọn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Regression · Random Forest · HistGradientBoosting (3 họ, thuần scikit-learn)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+ StratifiedGroupKFold,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Mô hình triển khai giữ cấu hình MẶC ĐỊNH (tinh chỉnh chỉ +0,003 CV-AP ⇒ nhiễu)</a:t>
            </a:r>
          </a:p>
          <a:p>
            <a:pPr marL="228600" indent="-228600">
              <a:buChar char="•"/>
            </a:pPr>
            <a:r>
              <a:rPr lang="vi-VN" sz="1400" b="0" dirty="0"/>
              <a:t>Chọn theo AP cross-company,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Random search + sổ thực nghiệm runs.csv (113 dòng)</a:t>
            </a:r>
          </a:p>
          <a:p>
            <a:pPr marL="228600" indent="-228600">
              <a:buChar char="•"/>
            </a:pPr>
            <a:r>
              <a:rPr lang="vi-VN" sz="1400" b="0" dirty="0"/>
              <a:t>Chỉ 3 họ mô hình (không xgboost/lightgbm) ⇒ mọi báo cáo/slide lấy từ 1 registry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quả trên test (n = 64) — kèm baseline đối chứng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Random Forest: AUROC 0,983 · AP 0,991 · Brier 0,058</a:t>
            </a:r>
          </a:p>
          <a:p>
            <a:pPr marL="228600" indent="-228600">
              <a:buChar char="•"/>
            </a:pPr>
            <a:r>
              <a:rPr lang="vi-VN" sz="1400" b="0" dirty="0"/>
              <a:t>Tại ngưỡng vận hành 0,788: P 0,973 · R 0,947 · F1 0,960</a:t>
            </a:r>
          </a:p>
          <a:p>
            <a:pPr marL="228600" indent="-228600">
              <a:buChar char="•"/>
            </a:pPr>
            <a:r>
              <a:rPr lang="vi-VN" sz="1400" b="0" dirty="0"/>
              <a:t>Baseline ticker_prior: AUROC 0,986 (không thua mô hình)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0,933 · LOCO 0,610</a:t>
            </a:r>
          </a:p>
          <a:p>
            <a:pPr marL="228600" indent="-228600">
              <a:buChar char="•"/>
            </a:pPr>
            <a:r>
              <a:rPr lang="vi-VN" sz="1400" b="0" dirty="0"/>
              <a:t>DeLong ΔAUROC p = 0,7546 ⇒ chưa có ý nghĩa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Ma trận nhầm lẫn và ngưỡng theo chi phí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@0,5: TN 23 · FP 3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@0,788: TN 25 · FP 1 · FN 2 · TP 36 (P 0,973)</a:t>
            </a:r>
          </a:p>
          <a:p>
            <a:pPr marL="228600" indent="-228600">
              <a:buChar char="•"/>
            </a:pPr>
            <a:r>
              <a:rPr lang="vi-VN" sz="1400" b="0" dirty="0"/>
              <a:t>@0,783 (tính trên test để phân tích): TN 25 · FP 1 · FN 1 · TP 37</a:t>
            </a:r>
          </a:p>
          <a:p>
            <a:pPr marL="228600" indent="-228600">
              <a:buChar char="•"/>
            </a:pPr>
            <a:r>
              <a:rPr lang="vi-VN" sz="1400" b="0" dirty="0"/>
              <a:t>Chi phí kỳ vọng giảm 8,0 → 6,0; ngưỡng vận hành = 0,788 (chọn trên validation)</a:t>
            </a:r>
          </a:p>
          <a:p>
            <a:pPr marL="228600" indent="-228600">
              <a:buChar char="•"/>
            </a:pPr>
            <a:r>
              <a:rPr lang="vi-VN" sz="1400" b="0" dirty="0"/>
              <a:t>FN đắt gấp 5 lần FP (tham số nghiệp vụ)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cấu hình, không hardcode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3/64 mẫu,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2 FN (HD-2024Q2 P 0,783; FIVE-2024Q3 P 0,174) + 1 FP (DG-2025Q2)</a:t>
            </a:r>
          </a:p>
          <a:p>
            <a:pPr marL="228600" indent="-228600">
              <a:buChar char="•"/>
            </a:pPr>
            <a:r>
              <a:rPr lang="vi-VN" sz="1400" b="0" dirty="0"/>
              <a:t>Lỗi trải ở 3 công ty: HD nhãn hằng 100%; DG 0,55; FIVE 0,19</a:t>
            </a:r>
          </a:p>
          <a:p>
            <a:pPr marL="228600" indent="-228600">
              <a:buChar char="•"/>
            </a:pPr>
            <a:r>
              <a:rPr lang="vi-VN" sz="1400" b="0" dirty="0"/>
              <a:t>SHAP cục bộ: current_ratio_min_window kéo về "an toàn"</a:t>
            </a:r>
          </a:p>
          <a:p>
            <a:pPr marL="228600" indent="-228600">
              <a:buChar char="•"/>
            </a:pPr>
            <a:r>
              <a:rPr lang="vi-VN" sz="1400" b="0" dirty="0"/>
              <a:t>Train AUROC 1,000 vs validation 0,965 ⇒ overfit nhẹ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thiếu thực thể</a:t>
            </a:r>
          </a:p>
        </p:txBody>
      </p:sp>
      <p:pic>
        <p:nvPicPr>
          <p:cNvPr id="4" name="image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vững và demo sản phẩm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4 định nghĩa nhãn; kết luận giữ nguyên ở 3/3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KernelSHAP tự cài: sai số efficiency ~1e-16</a:t>
            </a:r>
          </a:p>
          <a:p>
            <a:pPr marL="228600" indent="-228600">
              <a:buChar char="•"/>
            </a:pPr>
            <a:r>
              <a:rPr lang="vi-VN" sz="1400" b="0" dirty="0"/>
              <a:t>Demo: python -m scripts.predict --sample-id HD-2024Q2 --explain</a:t>
            </a:r>
          </a:p>
          <a:p>
            <a:pPr marL="228600" indent="-228600">
              <a:buChar char="•"/>
            </a:pPr>
            <a:r>
              <a:rPr lang="vi-VN" sz="1400" b="0" dirty="0"/>
              <a:t>Kiểm chứng dữ liệu thật: python -m scripts.verify_provenance (0 lệch)</a:t>
            </a:r>
          </a:p>
          <a:p>
            <a:pPr marL="228600" indent="-228600">
              <a:buChar char="•"/>
            </a:pPr>
            <a:r>
              <a:rPr lang="vi-VN" sz="1400" b="0" dirty="0"/>
              <a:t>222 test tự động · audit 98.200 phép kiểm tra, 0 phát hiện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luận, ứng dụng và hạn chế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Dùng được làm bộ lọc xếp hạng + ưu tiên thẩm định</a:t>
            </a:r>
          </a:p>
          <a:p>
            <a:pPr marL="228600" indent="-228600">
              <a:buChar char="•"/>
            </a:pPr>
            <a:r>
              <a:rPr lang="vi-VN" sz="1400" b="0" dirty="0"/>
              <a:t>Không dùng để tự động từ chối/hạ hạng tín dụng</a:t>
            </a:r>
          </a:p>
          <a:p>
            <a:pPr marL="228600" indent="-228600">
              <a:buChar char="•"/>
            </a:pPr>
            <a:r>
              <a:rPr lang="vi-VN" sz="1400" b="0" dirty="0"/>
              <a:t>P0: chốt định nghĩa nhãn với giảng viên</a:t>
            </a:r>
          </a:p>
          <a:p>
            <a:pPr marL="228600" indent="-228600">
              <a:buChar char="•"/>
            </a:pPr>
            <a:r>
              <a:rPr lang="vi-VN" sz="1400" b="0" dirty="0"/>
              <a:t>P1: thêm 50–100 công ty; lọc feature theo cụm/VIF</a:t>
            </a:r>
          </a:p>
          <a:p>
            <a:pPr marL="228600" indent="-228600">
              <a:buChar char="•"/>
            </a:pPr>
            <a:r>
              <a:rPr lang="vi-VN" sz="1400" b="0" dirty="0"/>
              <a:t>P2: monitoring PSI/KS; ngưỡng cấu hình hoá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