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 standalone="yes"?><p:presentation xmlns:a="http://schemas.openxmlformats.org/drawingml/2006/main" xmlns:r="http://schemas.openxmlformats.org/officeDocument/2006/relationships" xmlns:p="http://schemas.openxmlformats.org/presentationml/2006/main" saveSubsetFonts="1"><p:sldMasterIdLst><p:sldMasterId id="2147483648" r:id="rId1"/></p:sldMasterIdLst><p:sldId id="256" r:id="rId2"/><p:sldId id="257" r:id="rId3"/><p:sldId id="258" r:id="rId4"/><p:sldId id="259" r:id="rId5"/><p:sldId id="260" r:id="rId6"/><p:sldId id="261" r:id="rId7"/><p:sldId id="262" r:id="rId8"/><p:sldId id="263" r:id="rId9"/><p:sldId id="264" r:id="rId10"/><p:sldId id="265" r:id="rId11"/><p:sldId id="266" r:id="rId12"/></p:sldIdLst><p:sldSz cx="12192000" cy="6858000"/><p:notesSz cx="6858000" cy="12192000"/>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Dự báo suy giảm tài chính doanh nghiệp bán lẻ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5029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Dữ liệu SEC XBRL · 8 công ty · 324 mẫu · 47 feature</a:t>
            </a:r>
          </a:p>
          <a:p>
            <a:pPr marL="228600" indent="-228600">
              <a:buChar char="•"/>
            </a:pPr>
            <a:r>
              <a:rPr lang="vi-VN" sz="1400" b="0" dirty="0"/>
              <a:t>Train/Validation/Test = 212/32/64, chia theo thời gian</a:t>
            </a:r>
          </a:p>
          <a:p>
            <a:pPr marL="228600" indent="-228600">
              <a:buChar char="•"/>
            </a:pPr>
            <a:r>
              <a:rPr lang="vi-VN" sz="1400" b="0" dirty="0"/>
              <a:t>Tái lập 1 lệnh · 220 test · 98.200 phép kiểm tra, 0 phát hiện</a:t>
            </a:r>
          </a:p>
          <a:p>
            <a:pPr marL="228600" indent="-228600">
              <a:buChar char="•"/>
            </a:pPr>
            <a:r>
              <a:rPr lang="vi-VN" sz="1400" b="0" dirty="0"/>
              <a:t>Dữ liệu SEC thật: 20 file hash khớp, 4.609 fact tra ngược, 0 bịa</a:t>
            </a:r>
          </a:p>
          <a:p>
            <a:pPr marL="228600" indent="-228600">
              <a:buChar char="•"/>
            </a:pPr>
            <a:r>
              <a:rPr lang="vi-VN" sz="1400" b="0" dirty="0"/>
              <a:t>Kết luận trung thực: mô hình không chắc hơn baseline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Bài toán và câu hỏi nghiên cứu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5029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Quý kế tiếp: doanh nghiệp có suy giảm tài chính?</a:t>
            </a:r>
          </a:p>
          <a:p>
            <a:pPr marL="228600" indent="-228600">
              <a:buChar char="•"/>
            </a:pPr>
            <a:r>
              <a:rPr lang="vi-VN" sz="1400" b="0" dirty="0"/>
              <a:t>RQ1 mô hình · RQ2 đặc trưng · RQ3 công ty mới · RQ4 định nghĩa nhãn</a:t>
            </a:r>
          </a:p>
          <a:p>
            <a:pPr marL="228600" indent="-228600">
              <a:buChar char="•"/>
            </a:pPr>
            <a:r>
              <a:rPr lang="vi-VN" sz="1400" b="0" dirty="0"/>
              <a:t>Ngoài phạm vi: giá cổ phiếu, tín dụng, vĩ mô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Phát hiện then chốt: nhãn là thuộc tính của CÔNG TY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Nhãn dương 62,3% ở cấp mẫu (IR toàn corpus = 1,66; train = 1,65)</a:t>
            </a:r>
          </a:p>
          <a:p>
            <a:pPr marL="228600" indent="-228600">
              <a:buChar char="•"/>
            </a:pPr>
            <a:r>
              <a:rPr lang="vi-VN" sz="1400" b="0" dirty="0"/>
              <a:t>Nhưng HD/LOW/WMT = 100% nhãn 1; ROST chỉ 4,7%</a:t>
            </a:r>
          </a:p>
          <a:p>
            <a:pPr marL="228600" indent="-228600">
              <a:buChar char="•"/>
            </a:pPr>
            <a:r>
              <a:rPr lang="vi-VN" sz="1400" b="0" dirty="0"/>
              <a:t>IR ở cấp công ty lên tới 20,5; 41% mẫu thuộc công ty đơn lớp</a:t>
            </a:r>
          </a:p>
          <a:p>
            <a:pPr marL="228600" indent="-228600">
              <a:buChar char="•"/>
            </a:pPr>
            <a:r>
              <a:rPr lang="vi-VN" sz="1400" b="0" dirty="0"/>
              <a:t>Baseline chỉ dùng mã công ty đạt AUROC 0,986</a:t>
            </a:r>
          </a:p>
        </p:txBody>
      </p:sp>
      <p:pic>
        <p:nvPicPr>
          <p:cNvPr id="4" name="image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0" y="4114800"/>
            <a:ext cx="7620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EDA: ba phát hiện định hình thiết kế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Khuyết có cấu trúc: 5/16 chỉ tiêu phủ dưới 50%</a:t>
            </a:r>
          </a:p>
          <a:p>
            <a:pPr marL="228600" indent="-228600">
              <a:buChar char="•"/>
            </a:pPr>
            <a:r>
              <a:rPr lang="vi-VN" sz="1400" b="0" dirty="0"/>
              <a:t>MNAR: 22/47 feature; mạnh nhất Δ = −55,7 điểm % nhãn</a:t>
            </a:r>
          </a:p>
          <a:p>
            <a:pPr marL="228600" indent="-228600">
              <a:buChar char="•"/>
            </a:pPr>
            <a:r>
              <a:rPr lang="vi-VN" sz="1400" b="0" dirty="0"/>
              <a:t>Đuôi nặng: skew −14,9; 30,6% ngoại lai ở debt_to_equity</a:t>
            </a:r>
          </a:p>
          <a:p>
            <a:pPr marL="228600" indent="-228600">
              <a:buChar char="•"/>
            </a:pPr>
            <a:r>
              <a:rPr lang="vi-VN" sz="1400" b="0" dirty="0"/>
              <a:t>Đa cộng tuyến: VIF &gt; 10 ở 33/47 cột; chỉ 12,89 chiều hiệu dụng</a:t>
            </a:r>
          </a:p>
        </p:txBody>
      </p:sp>
      <p:pic>
        <p:nvPicPr>
          <p:cNvPr id="4" name="image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738687" y="4114800"/>
            <a:ext cx="271462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Tiền xử lý và chống rò rỉ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5029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Pipeline chính: impute median → (scaler cho tuyến tính) → model</a:t>
            </a:r>
          </a:p>
          <a:p>
            <a:pPr marL="228600" indent="-228600">
              <a:buChar char="•"/>
            </a:pPr>
            <a:r>
              <a:rPr lang="vi-VN" sz="1400" b="0" dirty="0"/>
              <a:t>Mọi phép biến đổi nằm TRONG Pipeline, fit chỉ trên train</a:t>
            </a:r>
          </a:p>
          <a:p>
            <a:pPr marL="228600" indent="-228600">
              <a:buChar char="•"/>
            </a:pPr>
            <a:r>
              <a:rPr lang="vi-VN" sz="1400" b="0" dirty="0"/>
              <a:t>Winsorize IQR chỉ nằm ở thí nghiệm 9.1 (lợi ích trong khoảng nhiễu)</a:t>
            </a:r>
          </a:p>
          <a:p>
            <a:pPr marL="228600" indent="-228600">
              <a:buChar char="•"/>
            </a:pPr>
            <a:r>
              <a:rPr lang="vi-VN" sz="1400" b="0" dirty="0"/>
              <a:t>Không resample; cố ý KHÔNG one-hot mã cổ phiếu</a:t>
            </a:r>
          </a:p>
          <a:p>
            <a:pPr marL="228600" indent="-228600">
              <a:buChar char="•"/>
            </a:pPr>
            <a:r>
              <a:rPr lang="vi-VN" sz="1400" b="0" dirty="0"/>
              <a:t>7 lớp kiểm soát rò rỉ + dải purge 16 mẫu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Bốn họ mô hình và cách chọn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Logistic · Random Forest · HistGradientBoosting · LightGBM</a:t>
            </a:r>
          </a:p>
          <a:p>
            <a:pPr marL="228600" indent="-228600">
              <a:buChar char="•"/>
            </a:pPr>
            <a:r>
              <a:rPr lang="vi-VN" sz="1400" b="0" dirty="0"/>
              <a:t>GridSearchCV + StratifiedGroupKFold, refit theo AP</a:t>
            </a:r>
          </a:p>
          <a:p>
            <a:pPr marL="228600" indent="-228600">
              <a:buChar char="•"/>
            </a:pPr>
            <a:r>
              <a:rPr lang="vi-VN" sz="1400" b="0" dirty="0"/>
              <a:t>Mô hình triển khai giữ cấu hình MẶC ĐỊNH (tinh chỉnh chỉ +0,003 CV-AP ⇒ nhiễu)</a:t>
            </a:r>
          </a:p>
          <a:p>
            <a:pPr marL="228600" indent="-228600">
              <a:buChar char="•"/>
            </a:pPr>
            <a:r>
              <a:rPr lang="vi-VN" sz="1400" b="0" dirty="0"/>
              <a:t>Chọn theo AP cross-company, không theo F1 in-domain</a:t>
            </a:r>
          </a:p>
          <a:p>
            <a:pPr marL="228600" indent="-228600">
              <a:buChar char="•"/>
            </a:pPr>
            <a:r>
              <a:rPr lang="vi-VN" sz="1400" b="0" dirty="0"/>
              <a:t>Random search + sổ thực nghiệm runs.csv (153 dòng)</a:t>
            </a:r>
          </a:p>
          <a:p>
            <a:pPr marL="228600" indent="-228600">
              <a:buChar char="•"/>
            </a:pPr>
            <a:r>
              <a:rPr lang="vi-VN" sz="1400" b="0" dirty="0"/>
              <a:t>XGBoost bị chặn phiên bản, đã ghi cách sửa</a:t>
            </a:r>
          </a:p>
        </p:txBody>
      </p:sp>
      <p:pic>
        <p:nvPicPr>
          <p:cNvPr id="4" name="image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724400" y="411480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Kết quả trên test (n = 64) — kèm baseline đối chứng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Random Forest: AUROC 0,983 · AP 0,991 · Brier 0,058</a:t>
            </a:r>
          </a:p>
          <a:p>
            <a:pPr marL="228600" indent="-228600">
              <a:buChar char="•"/>
            </a:pPr>
            <a:r>
              <a:rPr lang="vi-VN" sz="1400" b="0" dirty="0"/>
              <a:t>Tại ngưỡng vận hành 0,788: P 0,973 · R 0,947 · F1 0,960</a:t>
            </a:r>
          </a:p>
          <a:p>
            <a:pPr marL="228600" indent="-228600">
              <a:buChar char="•"/>
            </a:pPr>
            <a:r>
              <a:rPr lang="vi-VN" sz="1400" b="0" dirty="0"/>
              <a:t>Baseline ticker_prior: AUROC 0,986 (không thua mô hình)</a:t>
            </a:r>
          </a:p>
          <a:p>
            <a:pPr marL="228600" indent="-228600">
              <a:buChar char="•"/>
            </a:pPr>
            <a:r>
              <a:rPr lang="vi-VN" sz="1400" b="0" dirty="0"/>
              <a:t>Cross-company AUROC 0,933 · LOCO 0,610</a:t>
            </a:r>
          </a:p>
          <a:p>
            <a:pPr marL="228600" indent="-228600">
              <a:buChar char="•"/>
            </a:pPr>
            <a:r>
              <a:rPr lang="vi-VN" sz="1400" b="0" dirty="0"/>
              <a:t>DeLong ΔAUROC p = 0,7546 ⇒ chưa có ý nghĩa</a:t>
            </a:r>
          </a:p>
        </p:txBody>
      </p:sp>
      <p:pic>
        <p:nvPicPr>
          <p:cNvPr id="4" name="image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667250" y="4114800"/>
            <a:ext cx="28575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Ma trận nhầm lẫn và ngưỡng theo chi phí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@0,5: TN 23 · FP 3 · FN 1 · TP 37</a:t>
            </a:r>
          </a:p>
          <a:p>
            <a:pPr marL="228600" indent="-228600">
              <a:buChar char="•"/>
            </a:pPr>
            <a:r>
              <a:rPr lang="vi-VN" sz="1400" b="0" dirty="0"/>
              <a:t>@0,788: TN 25 · FP 1 · FN 2 · TP 36 (P 0,973)</a:t>
            </a:r>
          </a:p>
          <a:p>
            <a:pPr marL="228600" indent="-228600">
              <a:buChar char="•"/>
            </a:pPr>
            <a:r>
              <a:rPr lang="vi-VN" sz="1400" b="0" dirty="0"/>
              <a:t>@0,783 (tính trên test để phân tích): TN 25 · FP 1 · FN 1 · TP 37</a:t>
            </a:r>
          </a:p>
          <a:p>
            <a:pPr marL="228600" indent="-228600">
              <a:buChar char="•"/>
            </a:pPr>
            <a:r>
              <a:rPr lang="vi-VN" sz="1400" b="0" dirty="0"/>
              <a:t>Chi phí kỳ vọng giảm 8,0 → 6,0; ngưỡng vận hành = 0,788 (chọn trên validation)</a:t>
            </a:r>
          </a:p>
          <a:p>
            <a:pPr marL="228600" indent="-228600">
              <a:buChar char="•"/>
            </a:pPr>
            <a:r>
              <a:rPr lang="vi-VN" sz="1400" b="0" dirty="0"/>
              <a:t>FN đắt gấp 5 lần FP (tham số nghiệp vụ)</a:t>
            </a:r>
          </a:p>
          <a:p>
            <a:pPr marL="228600" indent="-228600">
              <a:buChar char="•"/>
            </a:pPr>
            <a:r>
              <a:rPr lang="vi-VN" sz="1400" b="0" dirty="0"/>
              <a:t>Ngưỡng là biến cấu hình, không hardcode</a:t>
            </a:r>
          </a:p>
        </p:txBody>
      </p:sp>
      <p:pic>
        <p:nvPicPr>
          <p:cNvPr id="4" name="image8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136571" y="4114800"/>
            <a:ext cx="3918857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Phân tích lỗi: 3/64 mẫu, có cấu trúc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2 FN (HD-2024Q2 P 0,783; FIVE-2024Q3 P 0,174) + 1 FP (DG-2025Q2)</a:t>
            </a:r>
          </a:p>
          <a:p>
            <a:pPr marL="228600" indent="-228600">
              <a:buChar char="•"/>
            </a:pPr>
            <a:r>
              <a:rPr lang="vi-VN" sz="1400" b="0" dirty="0"/>
              <a:t>Lỗi trải ở 3 công ty: HD nhãn hằng 100%; DG 0,55; FIVE 0,19</a:t>
            </a:r>
          </a:p>
          <a:p>
            <a:pPr marL="228600" indent="-228600">
              <a:buChar char="•"/>
            </a:pPr>
            <a:r>
              <a:rPr lang="vi-VN" sz="1400" b="0" dirty="0"/>
              <a:t>SHAP cục bộ: current_ratio_min_window kéo về "an toàn"</a:t>
            </a:r>
          </a:p>
          <a:p>
            <a:pPr marL="228600" indent="-228600">
              <a:buChar char="•"/>
            </a:pPr>
            <a:r>
              <a:rPr lang="vi-VN" sz="1400" b="0" dirty="0"/>
              <a:t>Train AUROC 1,000 vs validation 0,965 ⇒ overfit nhẹ</a:t>
            </a:r>
          </a:p>
          <a:p>
            <a:pPr marL="228600" indent="-228600">
              <a:buChar char="•"/>
            </a:pPr>
            <a:r>
              <a:rPr lang="vi-VN" sz="1400" b="0" dirty="0"/>
              <a:t>Learning curve chưa bão hoà ⇒ thiếu thực thể</a:t>
            </a:r>
          </a:p>
        </p:txBody>
      </p:sp>
      <p:pic>
        <p:nvPicPr>
          <p:cNvPr id="4" name="image9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054929" y="4114800"/>
            <a:ext cx="4082142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Kiểm chứng độ vững và demo sản phẩm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4 định nghĩa nhãn; kết luận giữ nguyên ở 3/3 tái lập được</a:t>
            </a:r>
          </a:p>
          <a:p>
            <a:pPr marL="228600" indent="-228600">
              <a:buChar char="•"/>
            </a:pPr>
            <a:r>
              <a:rPr lang="vi-VN" sz="1400" b="0" dirty="0"/>
              <a:t>KernelSHAP tự cài: sai số efficiency ~1e-16</a:t>
            </a:r>
          </a:p>
          <a:p>
            <a:pPr marL="228600" indent="-228600">
              <a:buChar char="•"/>
            </a:pPr>
            <a:r>
              <a:rPr lang="vi-VN" sz="1400" b="0" dirty="0"/>
              <a:t>Demo: python -m scripts.predict --sample-id HD-2024Q2 --explain</a:t>
            </a:r>
          </a:p>
          <a:p>
            <a:pPr marL="228600" indent="-228600">
              <a:buChar char="•"/>
            </a:pPr>
            <a:r>
              <a:rPr lang="vi-VN" sz="1400" b="0" dirty="0"/>
              <a:t>Kiểm chứng dữ liệu thật: python -m scripts.verify_provenance (0 lệch)</a:t>
            </a:r>
          </a:p>
          <a:p>
            <a:pPr marL="228600" indent="-228600">
              <a:buChar char="•"/>
            </a:pPr>
            <a:r>
              <a:rPr lang="vi-VN" sz="1400" b="0" dirty="0"/>
              <a:t>220 test tự động · audit 98.200 phép kiểm tra, 0 phát hiện</a:t>
            </a:r>
          </a:p>
        </p:txBody>
      </p:sp>
      <p:pic>
        <p:nvPicPr>
          <p:cNvPr id="4" name="image10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007827" y="4114800"/>
            <a:ext cx="4176346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Kết luận, ứng dụng và hạn chế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5029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Dùng được làm bộ lọc xếp hạng + ưu tiên thẩm định</a:t>
            </a:r>
          </a:p>
          <a:p>
            <a:pPr marL="228600" indent="-228600">
              <a:buChar char="•"/>
            </a:pPr>
            <a:r>
              <a:rPr lang="vi-VN" sz="1400" b="0" dirty="0"/>
              <a:t>Không dùng để tự động từ chối/hạ hạng tín dụng</a:t>
            </a:r>
          </a:p>
          <a:p>
            <a:pPr marL="228600" indent="-228600">
              <a:buChar char="•"/>
            </a:pPr>
            <a:r>
              <a:rPr lang="vi-VN" sz="1400" b="0" dirty="0"/>
              <a:t>P0: chốt định nghĩa nhãn với giảng viên</a:t>
            </a:r>
          </a:p>
          <a:p>
            <a:pPr marL="228600" indent="-228600">
              <a:buChar char="•"/>
            </a:pPr>
            <a:r>
              <a:rPr lang="vi-VN" sz="1400" b="0" dirty="0"/>
              <a:t>P1: thêm 50–100 công ty; lọc feature theo cụm/VIF</a:t>
            </a:r>
          </a:p>
          <a:p>
            <a:pPr marL="228600" indent="-228600">
              <a:buChar char="•"/>
            </a:pPr>
            <a:r>
              <a:rPr lang="vi-VN" sz="1400" b="0" dirty="0"/>
              <a:t>P2: monitoring PSI/KS; ngưỡng cấu hình hoá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python-ooxml-writer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Đồ án dự báo suy giảm tài chính doanh nghiệp bán lẻ</dc:title>
  <dc:creator>scripts.export_office</dc:creator>
</cp:coreProperties>
</file>