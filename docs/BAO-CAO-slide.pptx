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 standalone="yes"?><p:presentation xmlns:a="http://schemas.openxmlformats.org/drawingml/2006/main" xmlns:r="http://schemas.openxmlformats.org/officeDocument/2006/relationships" xmlns:p="http://schemas.openxmlformats.org/presentationml/2006/main" saveSubsetFonts="1"><p:sldMasterIdLst><p:sldMasterId id="2147483648" r:id="rId1"/></p:sldMasterIdLst><p:sldId id="256" r:id="rId2"/><p:sldId id="257" r:id="rId3"/><p:sldId id="258" r:id="rId4"/><p:sldId id="259" r:id="rId5"/><p:sldId id="260" r:id="rId6"/><p:sldId id="261" r:id="rId7"/><p:sldId id="262" r:id="rId8"/><p:sldId id="263" r:id="rId9"/><p:sldId id="264" r:id="rId10"/><p:sldId id="265" r:id="rId11"/><p:sldId id="266" r:id="rId12"/><p:sldId id="267" r:id="rId13"/><p:sldId id="268" r:id="rId14"/><p:sldId id="269" r:id="rId15"/></p:sldIdLst><p:sldSz cx="12192000" cy="6858000"/><p:notesSz cx="6858000" cy="12192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Đặt vấn đề và câu hỏi nghiên cứu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Dự báo quý kế tiếp: doanh nghiệp bán lẻ có rơi vào suy giảm tài chính (is_distressed)?</a:t>
            </a:r>
          </a:p>
          <a:p>
            <a:pPr marL="228600" indent="-228600">
              <a:buChar char="•"/>
            </a:pPr>
            <a:r>
              <a:rPr lang="vi-VN" sz="1400" b="0" dirty="0"/>
              <a:t>Dữ liệu: 8 chuỗi bán lẻ Mỹ, 332 quý, 324 mẫu</a:t>
            </a:r>
          </a:p>
          <a:p>
            <a:pPr marL="228600" indent="-228600">
              <a:buChar char="•"/>
            </a:pPr>
            <a:r>
              <a:rPr lang="vi-VN" sz="1400" b="0" dirty="0"/>
              <a:t>RQ1 ba họ mô hình · RQ2 đặc trưng quyết định · RQ3 công ty chưa từng thấy · RQ4 định nghĩa nhãn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Dữ liệu và cách tạo mẫu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16 chỉ tiêu/quý từ SEC XBRL → mẫu = (lịch sử ≤ as_of, quý target, nhãn)</a:t>
            </a:r>
          </a:p>
          <a:p>
            <a:pPr marL="228600" indent="-228600">
              <a:buChar char="•"/>
            </a:pPr>
            <a:r>
              <a:rPr lang="vi-VN" sz="1400" b="0" dirty="0"/>
              <a:t>Chia tập theo thời gian trong từng công ty + dải purge 16 mẫu</a:t>
            </a:r>
          </a:p>
          <a:p>
            <a:pPr marL="228600" indent="-228600">
              <a:buChar char="•"/>
            </a:pPr>
            <a:r>
              <a:rPr lang="vi-VN" sz="1400" b="0" dirty="0"/>
              <a:t>Tái lập bằng 1 lệnh; manifest có SHA-256 cho nguồn và từng split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Phát hiện then chốt: nhãn là thuộc tính của CÔNG TY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HD, LOW, WMT có 100% nhãn = 1 trong mọi quý; ROST chỉ 0.047</a:t>
            </a:r>
          </a:p>
          <a:p>
            <a:pPr marL="228600" indent="-228600">
              <a:buChar char="•"/>
            </a:pPr>
            <a:r>
              <a:rPr lang="vi-VN" sz="1400" b="0" dirty="0"/>
              <a:t>Nhãn gốc không khớp quy tắc kế toán đơn giản nào (khớp tối đa 65% nếu bỏ nhóm tín hiệu tổng hợp)</a:t>
            </a:r>
          </a:p>
          <a:p>
            <a:pPr marL="228600" indent="-228600">
              <a:buChar char="•"/>
            </a:pPr>
            <a:r>
              <a:rPr lang="vi-VN" sz="1400" b="0" dirty="0"/>
              <a:t>⇒ Chỉ số in-domain cao có thể chỉ là “nhớ mặt công ty”</a:t>
            </a:r>
          </a:p>
        </p:txBody>
      </p:sp>
      <p:pic>
        <p:nvPicPr>
          <p:cNvPr id="4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4114800"/>
            <a:ext cx="7620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EDA: chất lượng dữ liệu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Độ phủ thấp: liabilities, receivables, short_term_investments, net_income (liabilities 39%)</a:t>
            </a:r>
          </a:p>
          <a:p>
            <a:pPr marL="228600" indent="-228600">
              <a:buChar char="•"/>
            </a:pPr>
            <a:r>
              <a:rPr lang="vi-VN" sz="1400" b="0" dirty="0"/>
              <a:t>Nhưng debt_to_assets/debt_to_equity vẫn phủ 100% nhờ suy ra nợ từ A = L + E</a:t>
            </a:r>
          </a:p>
          <a:p>
            <a:pPr marL="228600" indent="-228600">
              <a:buChar char="•"/>
            </a:pPr>
            <a:r>
              <a:rPr lang="vi-VN" sz="1400" b="0" dirty="0"/>
              <a:t>32/324 mẫu có &lt;5 quý lịch sử → feature YoY là NaN</a:t>
            </a:r>
          </a:p>
          <a:p>
            <a:pPr marL="228600" indent="-228600">
              <a:buChar char="•"/>
            </a:pPr>
            <a:r>
              <a:rPr lang="vi-VN" sz="1400" b="0" dirty="0"/>
              <a:t>Xử lý: impute trong Pipeline (không rò rỉ) + ablation đo ảnh hưởng</a:t>
            </a:r>
          </a:p>
        </p:txBody>
      </p:sp>
      <p:pic>
        <p:nvPicPr>
          <p:cNvPr id="4" name="image4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238500" y="4114800"/>
            <a:ext cx="5715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Tiền xử lý và 47 đặc trưng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14 tỷ số (latest + YoY) · 10 tốc độ tăng trưởng · cấu trúc vốn · chỉ báo căng thẳng</a:t>
            </a:r>
          </a:p>
          <a:p>
            <a:pPr marL="228600" indent="-228600">
              <a:buChar char="•"/>
            </a:pPr>
            <a:r>
              <a:rPr lang="vi-VN" sz="1400" b="0" dirty="0"/>
              <a:t>Nhóm path: cực trị xấu nhất trong cửa sổ 8 quý, mức giảm so với đỉnh, chuỗi quý âm</a:t>
            </a:r>
          </a:p>
          <a:p>
            <a:pPr marL="228600" indent="-228600">
              <a:buChar char="•"/>
            </a:pPr>
            <a:r>
              <a:rPr lang="vi-VN" sz="1400" b="0" dirty="0"/>
              <a:t>Nợ suy ra từ A = L + E ⇒ debt_to_assets/debt_to_equity phủ 100% mẫu</a:t>
            </a:r>
          </a:p>
          <a:p>
            <a:pPr marL="228600" indent="-228600">
              <a:buChar char="•"/>
            </a:pPr>
            <a:r>
              <a:rPr lang="vi-VN" sz="1400" b="0" dirty="0"/>
              <a:t>Pipeline chính: median-impute → (scaler cho tuyến tính) → model; không ticker one-hot</a:t>
            </a:r>
          </a:p>
          <a:p>
            <a:pPr marL="228600" indent="-228600">
              <a:buChar char="•"/>
            </a:pPr>
            <a:r>
              <a:rPr lang="vi-VN" sz="1400" b="0" dirty="0"/>
              <a:t>Winsorize IQR chỉ nằm ở thí nghiệm 9.1 (lợi ích cho mô hình chốt trong khoảng nhiễu)</a:t>
            </a:r>
          </a:p>
        </p:txBody>
      </p:sp>
      <p:pic>
        <p:nvPicPr>
          <p:cNvPr id="4" name="image5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973286" y="4114800"/>
            <a:ext cx="424542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Các họ mô hình và tinh chỉnh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Logistic · Random Forest · HistGradientBoosting · LightGBM (XGBoost bị bỏ do xung đột phiên bản)</a:t>
            </a:r>
          </a:p>
          <a:p>
            <a:pPr marL="228600" indent="-228600">
              <a:buChar char="•"/>
            </a:pPr>
            <a:r>
              <a:rPr lang="vi-VN" sz="1400" b="0" dirty="0"/>
              <a:t>GridSearchCV với StratifiedGroupKFold theo mã cổ phiếu; refit theo AP</a:t>
            </a:r>
          </a:p>
          <a:p>
            <a:pPr marL="228600" indent="-228600">
              <a:buChar char="•"/>
            </a:pPr>
            <a:r>
              <a:rPr lang="vi-VN" sz="1400" b="0" dirty="0"/>
              <a:t>Chọn mô hình: AP cross-company (GroupKFold) → best-F1(val) → AP → AUROC → gap nhỏ nhất</a:t>
            </a:r>
          </a:p>
        </p:txBody>
      </p:sp>
      <p:pic>
        <p:nvPicPr>
          <p:cNvPr id="4" name="image6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724400" y="4114800"/>
            <a:ext cx="2743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So sánh có BASELINE — điểm khác biệt của đồ án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Baseline ticker-prior (không học gì): AUROC = 0.986</a:t>
            </a:r>
          </a:p>
          <a:p>
            <a:pPr marL="228600" indent="-228600">
              <a:buChar char="•"/>
            </a:pPr>
            <a:r>
              <a:rPr lang="vi-VN" sz="1400" b="0" dirty="0"/>
              <a:t>Mô hình được chốt (Random Forest): AUROC = 0.983</a:t>
            </a:r>
          </a:p>
          <a:p>
            <a:pPr marL="228600" indent="-228600">
              <a:buChar char="•"/>
            </a:pPr>
            <a:r>
              <a:rPr lang="vi-VN" sz="1400" b="0" dirty="0"/>
              <a:t>⇒ Baseline không hề thua mô hình ở in-domain (confusion nó khác mô hình: TN/FP/FN/TP = 26/0/6/32 so với 25/1/2/36) ⇒ phần lớn khả năng phân biệt đến từ danh tính công ty</a:t>
            </a:r>
          </a:p>
        </p:txBody>
      </p:sp>
      <p:pic>
        <p:nvPicPr>
          <p:cNvPr id="4" name="image7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007827" y="4114800"/>
            <a:ext cx="4176346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Metric đầy đủ tại ngưỡng vận hành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AUROC 0.983 · AP 0.991 · Brier 0.058</a:t>
            </a:r>
          </a:p>
          <a:p>
            <a:pPr marL="228600" indent="-228600">
              <a:buChar char="•"/>
            </a:pPr>
            <a:r>
              <a:rPr lang="vi-VN" sz="1400" b="0" dirty="0"/>
              <a:t>Precision 0.973 · Recall 0.947 · F1 0.960 · macro-F1 0.952</a:t>
            </a:r>
          </a:p>
          <a:p>
            <a:pPr marL="228600" indent="-228600">
              <a:buChar char="•"/>
            </a:pPr>
            <a:r>
              <a:rPr lang="vi-VN" sz="1400" b="0" dirty="0"/>
              <a:t>Kèm bootstrap CI 95% (n = 64) để không overclaim</a:t>
            </a:r>
          </a:p>
        </p:txBody>
      </p:sp>
      <p:pic>
        <p:nvPicPr>
          <p:cNvPr id="4" name="image8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667250" y="4114800"/>
            <a:ext cx="28575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Phân tích lỗi: sai số có cấu trúc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3/64 mẫu sai = 2 FN + 1 FP (precision 0.973 · recall 0.947)</a:t>
            </a:r>
          </a:p>
          <a:p>
            <a:pPr marL="228600" indent="-228600">
              <a:buChar char="•"/>
            </a:pPr>
            <a:r>
              <a:rPr lang="vi-VN" sz="1400" b="0" dirty="0"/>
              <a:t>Công ty liên quan: DG, FIVE, HD — HD (nhãn hằng = 1) cũng bị bỏ sót 1 quý; nhãn biến động: DG, FIVE</a:t>
            </a:r>
          </a:p>
          <a:p>
            <a:pPr marL="228600" indent="-228600">
              <a:buChar char="•"/>
            </a:pPr>
            <a:r>
              <a:rPr lang="vi-VN" sz="1400" b="0" dirty="0"/>
              <a:t>P(distress) của mẫu sai: 0.174–0.798 ⇒ hạ ngưỡng cứu được 2 FN nhưng trả thêm 1 FP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Overfitting và lựa chọn mô hình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AUROC train tới 1.000 nhưng validation 0.965–0.974 ⇒ overfit nhẹ do dữ liệu nhỏ</a:t>
            </a:r>
          </a:p>
          <a:p>
            <a:pPr marL="228600" indent="-228600">
              <a:buChar char="•"/>
            </a:pPr>
            <a:r>
              <a:rPr lang="vi-VN" sz="1400" b="0" dirty="0"/>
              <a:t>Mô hình được chốt: Random Forest — xếp theo AP cross-company 0.958, không theo F1 in-domain</a:t>
            </a:r>
          </a:p>
          <a:p>
            <a:pPr marL="228600" indent="-228600">
              <a:buChar char="•"/>
            </a:pPr>
            <a:r>
              <a:rPr lang="vi-VN" sz="1400" b="0" dirty="0"/>
              <a:t>Learning curve chưa bão hoà ⇒ nút thắt là số lượng công ty</a:t>
            </a:r>
          </a:p>
        </p:txBody>
      </p:sp>
      <p:pic>
        <p:nvPicPr>
          <p:cNvPr id="4" name="image10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054929" y="4114800"/>
            <a:ext cx="408214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Đặc trưng quyết định và đa cộng tuyến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Permutation importance: nhóm cấu trúc vốn/thanh khoản dẫn đầu</a:t>
            </a:r>
          </a:p>
          <a:p>
            <a:pPr marL="228600" indent="-228600">
              <a:buChar char="•"/>
            </a:pPr>
            <a:r>
              <a:rPr lang="vi-VN" sz="1400" b="0" dirty="0"/>
              <a:t>Nhiều cột VIF &gt; 10 ⇒ không diễn giải hệ số Logistic như quan hệ nhân quả</a:t>
            </a:r>
          </a:p>
          <a:p>
            <a:pPr marL="228600" indent="-228600">
              <a:buChar char="•"/>
            </a:pPr>
            <a:r>
              <a:rPr lang="vi-VN" sz="1400" b="0" dirty="0"/>
              <a:t>Ablation: bỏ nhóm YoY/tăng trưởng gần như không giảm chất lượng</a:t>
            </a:r>
          </a:p>
        </p:txBody>
      </p:sp>
      <p:pic>
        <p:nvPicPr>
          <p:cNvPr id="4" name="image1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238500" y="4114800"/>
            <a:ext cx="5715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Ngưỡng, chi phí và hiệu chuẩn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Ngưỡng best-F1 0.788 vs ngưỡng tối ưu chi phí 0.783 (FN đắt gấp 5 lần FP)</a:t>
            </a:r>
          </a:p>
          <a:p>
            <a:pPr marL="228600" indent="-228600">
              <a:buChar char="•"/>
            </a:pPr>
            <a:r>
              <a:rPr lang="vi-VN" sz="1400" b="0" dirty="0"/>
              <a:t>Brier ≈ 0,06 ⇒ xác suất dùng được cho bài toán ra quyết định</a:t>
            </a:r>
          </a:p>
          <a:p>
            <a:pPr marL="228600" indent="-228600">
              <a:buChar char="•"/>
            </a:pPr>
            <a:r>
              <a:rPr lang="vi-VN" sz="1400" b="0" dirty="0"/>
              <a:t>Ngưỡng là biến quyết định “miễn phí”: đổi precision/recall, AP không đổi</a:t>
            </a:r>
          </a:p>
        </p:txBody>
      </p:sp>
      <p:pic>
        <p:nvPicPr>
          <p:cNvPr id="4" name="image1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136571" y="4114800"/>
            <a:ext cx="3918857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Kiểm chứng độ nhạy theo định nghĩa nhãn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Dựng lại split bằng nhãn quy tắc công khai (scripts.relabel)</a:t>
            </a:r>
          </a:p>
          <a:p>
            <a:pPr marL="228600" indent="-228600">
              <a:buChar char="•"/>
            </a:pPr>
            <a:r>
              <a:rPr lang="vi-VN" sz="1400" b="0" dirty="0"/>
              <a:t>Khớp với nhãn gốc chỉ ≈ 74.4% ⇒ hai bộ nhãn khác nhau rõ rệt</a:t>
            </a:r>
          </a:p>
          <a:p>
            <a:pPr marL="228600" indent="-228600">
              <a:buChar char="•"/>
            </a:pPr>
            <a:r>
              <a:rPr lang="vi-VN" sz="1400" b="0" dirty="0"/>
              <a:t>Kết luận “bài toán bị chi phối bởi thực thể” lặp lại trên cả hai định nghĩa nhãn</a:t>
            </a:r>
          </a:p>
        </p:txBody>
      </p:sp>
      <p:pic>
        <p:nvPicPr>
          <p:cNvPr id="4" name="image1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007827" y="4114800"/>
            <a:ext cx="4176346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274320"/>
            <a:ext cx="11277600" cy="823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indent="0">
              <a:buNone/>
            </a:pPr>
            <a:r>
              <a:rPr lang="vi-VN" sz="2400" b="1" dirty="0"/>
              <a:t>Kết luận và hướng phát triển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457200" y="1219200"/>
            <a:ext cx="11277600" cy="50292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28600" indent="-228600">
              <a:buChar char="•"/>
            </a:pPr>
            <a:r>
              <a:rPr lang="vi-VN" sz="1400" b="0" dirty="0"/>
              <a:t>Đóng góp: phát hiện + định lượng rò rỉ cấp thực thể; bộ đánh giá chuẩn hoá, tái lập được</a:t>
            </a:r>
          </a:p>
          <a:p>
            <a:pPr marL="228600" indent="-228600">
              <a:buChar char="•"/>
            </a:pPr>
            <a:r>
              <a:rPr lang="vi-VN" sz="1400" b="0" dirty="0"/>
              <a:t>Cross-company AUROC còn 0.933; LOCO chỉ tính được AUROC trên 8/8 công ty (nhãn đơn lớp ở phần còn lại)</a:t>
            </a:r>
          </a:p>
          <a:p>
            <a:pPr marL="228600" indent="-228600">
              <a:buChar char="•"/>
            </a:pPr>
            <a:r>
              <a:rPr lang="vi-VN" sz="1400" b="0" dirty="0"/>
              <a:t>Hướng đi: thêm 50–100 công ty, nhãn công khai có cơ sở học thuật, walk-forward/survival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python-ooxml-writer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Đồ án dự báo suy giảm tài chính doanh nghiệp bán lẻ</dc:title>
  <dc:creator>scripts.export_office</dc:creator>
</cp:coreProperties>
</file>