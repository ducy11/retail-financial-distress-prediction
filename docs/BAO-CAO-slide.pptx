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p:sldId id="267" r:id="rId13"/><p:sldId id="268" r:id="rId14"/><p:sldId id="269" r:id="rId15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Đặt vấn đề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 báo quý kế tiếp: doanh nghiệp bán lẻ có rơi vào suy giảm tài chính (is_distressed)?</a:t>
            </a:r>
          </a:p>
          <a:p>
            <a:pPr marL="228600" indent="-228600">
              <a:buChar char="•"/>
            </a:pPr>
            <a:r>
              <a:rPr lang="vi-VN" sz="1400" b="0" dirty="0"/>
              <a:t>Dữ liệu: 8 chuỗi bán lẻ Mỹ, 332 quý, 324 mẫu</a:t>
            </a:r>
          </a:p>
          <a:p>
            <a:pPr marL="228600" indent="-228600">
              <a:buChar char="•"/>
            </a:pPr>
            <a:r>
              <a:rPr lang="vi-VN" sz="1400" b="0" dirty="0"/>
              <a:t>RQ1 bốn họ mô hình + baseline quy tắc Altman · RQ2 đặc trưng quyết định · RQ3 công ty chưa từng thấy · RQ4 định nghĩa nhãn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Dữ liệu và cách tạo mẫu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16 chỉ tiêu/quý từ SEC XBRL → mẫu = (lịch sử ≤ as_of, quý target, nhãn)</a:t>
            </a:r>
          </a:p>
          <a:p>
            <a:pPr marL="228600" indent="-228600">
              <a:buChar char="•"/>
            </a:pPr>
            <a:r>
              <a:rPr lang="vi-VN" sz="1400" b="0" dirty="0"/>
              <a:t>Chia tập theo thời gian trong từng công ty + dải purge 16 mẫu</a:t>
            </a:r>
          </a:p>
          <a:p>
            <a:pPr marL="228600" indent="-228600">
              <a:buChar char="•"/>
            </a:pPr>
            <a:r>
              <a:rPr lang="vi-VN" sz="1400" b="0" dirty="0"/>
              <a:t>Tái lập bằng 1 lệnh; manifest có SHA-256 cho nguồn và từng split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HD, LOW, WMT có 100% nhãn = 1 trong mọi quý; ROST chỉ 0.047</a:t>
            </a:r>
          </a:p>
          <a:p>
            <a:pPr marL="228600" indent="-228600">
              <a:buChar char="•"/>
            </a:pPr>
            <a:r>
              <a:rPr lang="vi-VN" sz="1400" b="0" dirty="0"/>
              <a:t>Nhãn gốc không khớp quy tắc kế toán đơn giản nào (khớp tối đa 65% nếu bỏ nhóm tín hiệu tổng hợp)</a:t>
            </a:r>
          </a:p>
          <a:p>
            <a:pPr marL="228600" indent="-228600">
              <a:buChar char="•"/>
            </a:pPr>
            <a:r>
              <a:rPr lang="vi-VN" sz="1400" b="0" dirty="0"/>
              <a:t>⇒ Chỉ số in-domain cao có thể chỉ là “nhớ mặt công ty”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chất lượng dữ liệu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Độ phủ thấp: liabilities, receivables, short_term_investments, net_income (liabilities 39%)</a:t>
            </a:r>
          </a:p>
          <a:p>
            <a:pPr marL="228600" indent="-228600">
              <a:buChar char="•"/>
            </a:pPr>
            <a:r>
              <a:rPr lang="vi-VN" sz="1400" b="0" dirty="0"/>
              <a:t>Nhưng debt_to_assets/debt_to_equity vẫn phủ 100% nhờ suy ra nợ từ A = L + E</a:t>
            </a:r>
          </a:p>
          <a:p>
            <a:pPr marL="228600" indent="-228600">
              <a:buChar char="•"/>
            </a:pPr>
            <a:r>
              <a:rPr lang="vi-VN" sz="1400" b="0" dirty="0"/>
              <a:t>32/324 mẫu có &lt;5 quý lịch sử → feature YoY là NaN</a:t>
            </a:r>
          </a:p>
          <a:p>
            <a:pPr marL="228600" indent="-228600">
              <a:buChar char="•"/>
            </a:pPr>
            <a:r>
              <a:rPr lang="vi-VN" sz="1400" b="0" dirty="0"/>
              <a:t>Xử lý: impute trong Pipeline (không rò rỉ) + ablation đo ảnh hưởng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47 đặc trưng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14 tỷ số (latest + YoY) · 10 tốc độ tăng trưởng · cấu trúc vốn · chỉ báo căng thẳng</a:t>
            </a:r>
          </a:p>
          <a:p>
            <a:pPr marL="228600" indent="-228600">
              <a:buChar char="•"/>
            </a:pPr>
            <a:r>
              <a:rPr lang="vi-VN" sz="1400" b="0" dirty="0"/>
              <a:t>Nhóm path: cực trị xấu nhất trong cửa sổ 8 quý, mức giảm so với đỉnh, chuỗi quý âm</a:t>
            </a:r>
          </a:p>
          <a:p>
            <a:pPr marL="228600" indent="-228600">
              <a:buChar char="•"/>
            </a:pPr>
            <a:r>
              <a:rPr lang="vi-VN" sz="1400" b="0" dirty="0"/>
              <a:t>Nợ suy ra từ A = L + E ⇒ debt_to_assets/debt_to_equity phủ 100% mẫu</a:t>
            </a:r>
          </a:p>
          <a:p>
            <a:pPr marL="228600" indent="-228600">
              <a:buChar char="•"/>
            </a:pPr>
            <a:r>
              <a:rPr lang="vi-VN" sz="1400" b="0" dirty="0"/>
              <a:t>Pipeline chính: median-impute → (scaler cho tuyến tính) → model; không ticker one-hot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cho mô hình chốt trong khoảng nhiễu)</a:t>
            </a:r>
          </a:p>
        </p:txBody>
      </p:sp>
      <p:pic>
        <p:nvPicPr>
          <p:cNvPr id="4" name="image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973286" y="4114800"/>
            <a:ext cx="424542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Bốn họ mô hình và tinh chỉnh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Regression · Random Forest · HistGradientBoosting · MLP (4 họ, thuần scikit-learn)</a:t>
            </a:r>
          </a:p>
          <a:p>
            <a:pPr marL="228600" indent="-228600">
              <a:buChar char="•"/>
            </a:pPr>
            <a:r>
              <a:rPr lang="vi-VN" sz="1400" b="0" dirty="0"/>
              <a:t>Baseline quy tắc Altman Z'' &lt; 1,1 (không học tham số) + ticker-prior + dummy + 1 chỉ tiêu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với StratifiedGroupKFold theo mã cổ phiếu;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mô hình: AP cross-company (GroupKFold) → best-F1(val) → AP → AUROC → gap nhỏ nhất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dưới mức nhiễu)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So sánh có BASELINE — điểm khác biệt của đồ án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Baseline ticker-prior (không học gì): AUROC = 0.986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 (Random Forest): AUROC = 0.983</a:t>
            </a:r>
          </a:p>
          <a:p>
            <a:pPr marL="228600" indent="-228600">
              <a:buChar char="•"/>
            </a:pPr>
            <a:r>
              <a:rPr lang="vi-VN" sz="1400" b="0" dirty="0"/>
              <a:t>⇒ Baseline không hề thua mô hình ở in-domain (confusion nó khác mô hình: TN/FP/FN/TP = 26/0/6/32 so với 25/1/2/36) ⇒ phần lớn khả năng phân biệt đến từ danh tính công ty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Metric đầy đủ tại ngưỡng vận hành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0.983 · AP 0.991 · Brier 0.058</a:t>
            </a:r>
          </a:p>
          <a:p>
            <a:pPr marL="228600" indent="-228600">
              <a:buChar char="•"/>
            </a:pPr>
            <a:r>
              <a:rPr lang="vi-VN" sz="1400" b="0" dirty="0"/>
              <a:t>Precision 0.973 · Recall 0.947 · F1 0.960 · macro-F1 0.952</a:t>
            </a:r>
          </a:p>
          <a:p>
            <a:pPr marL="228600" indent="-228600">
              <a:buChar char="•"/>
            </a:pPr>
            <a:r>
              <a:rPr lang="vi-VN" sz="1400" b="0" dirty="0"/>
              <a:t>Kèm bootstrap CI 95% (n = 64) để không overclaim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sai số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3/64 mẫu sai = 2 FN + 1 FP (precision 0.973 · recall 0.947)</a:t>
            </a:r>
          </a:p>
          <a:p>
            <a:pPr marL="228600" indent="-228600">
              <a:buChar char="•"/>
            </a:pPr>
            <a:r>
              <a:rPr lang="vi-VN" sz="1400" b="0" dirty="0"/>
              <a:t>Công ty liên quan: DG, FIVE, HD — HD (nhãn hằng = 1) cũng bị bỏ sót 1 quý; nhãn biến động: DG, FIVE</a:t>
            </a:r>
          </a:p>
          <a:p>
            <a:pPr marL="228600" indent="-228600">
              <a:buChar char="•"/>
            </a:pPr>
            <a:r>
              <a:rPr lang="vi-VN" sz="1400" b="0" dirty="0"/>
              <a:t>P(distress) của mẫu sai: 0.174–0.798 ⇒ hạ ngưỡng cứu được 2 FN nhưng trả thêm 1 FP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Overfitting và lựa chọn mô hình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train tới 1.000 nhưng validation 0.965–0.987 ⇒ overfit nhẹ do dữ liệu nhỏ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chốt: Random Forest — xếp theo AP cross-company 0.958,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nút thắt là số lượng công ty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Đặc trưng quyết định và đa cộng tuyến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Permutation importance (mô hình RF): gross_margin_latest, receivables_to_sales_latest, working_capital_to_assets dẫn đầu</a:t>
            </a:r>
          </a:p>
          <a:p>
            <a:pPr marL="228600" indent="-228600">
              <a:buChar char="•"/>
            </a:pPr>
            <a:r>
              <a:rPr lang="vi-VN" sz="1400" b="0" dirty="0"/>
              <a:t>ΔAUROC rất nhỏ (max 0.008) ⇒ không có 'cột quyết định'</a:t>
            </a:r>
          </a:p>
          <a:p>
            <a:pPr marL="228600" indent="-228600">
              <a:buChar char="•"/>
            </a:pPr>
            <a:r>
              <a:rPr lang="vi-VN" sz="1400" b="0" dirty="0"/>
              <a:t>Nhiều cột VIF &gt; 10 (33) ⇒ không diễn giải hệ số Logistic như quan hệ nhân quả</a:t>
            </a:r>
          </a:p>
          <a:p>
            <a:pPr marL="228600" indent="-228600">
              <a:buChar char="•"/>
            </a:pPr>
            <a:r>
              <a:rPr lang="vi-VN" sz="1400" b="0" dirty="0"/>
              <a:t>Ablation: bỏ nhóm YoY/tăng trưởng gần như không giảm chất lượng</a:t>
            </a:r>
          </a:p>
        </p:txBody>
      </p:sp>
      <p:pic>
        <p:nvPicPr>
          <p:cNvPr id="4" name="image1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Ngưỡng, chi phí và hiệu chuẩn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Ngưỡng best-F1 0.788 vs ngưỡng tối ưu chi phí 0.783 (FN đắt gấp 5 lần FP)</a:t>
            </a:r>
          </a:p>
          <a:p>
            <a:pPr marL="228600" indent="-228600">
              <a:buChar char="•"/>
            </a:pPr>
            <a:r>
              <a:rPr lang="vi-VN" sz="1400" b="0" dirty="0"/>
              <a:t>Brier ≈ 0,06 ⇒ xác suất dùng được cho bài toán ra quyết định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quyết định “miễn phí”: đổi precision/recall, AP không đổi</a:t>
            </a:r>
          </a:p>
        </p:txBody>
      </p:sp>
      <p:pic>
        <p:nvPicPr>
          <p:cNvPr id="4" name="image1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nhạy theo định nghĩa nhãn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Dựng lại split bằng nhãn quy tắc công khai (scripts.relabel)</a:t>
            </a:r>
          </a:p>
          <a:p>
            <a:pPr marL="228600" indent="-228600">
              <a:buChar char="•"/>
            </a:pPr>
            <a:r>
              <a:rPr lang="vi-VN" sz="1400" b="0" dirty="0"/>
              <a:t>Khớp với nhãn gốc chỉ ≈ 74.4% ⇒ hai bộ nhãn khác nhau rõ rệt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“bài toán bị chi phối bởi thực thể” lặp lại trên cả hai định nghĩa nhãn</a:t>
            </a:r>
          </a:p>
        </p:txBody>
      </p:sp>
      <p:pic>
        <p:nvPicPr>
          <p:cNvPr id="4" name="image1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 và hướng phát triển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Đóng góp: phát hiện + định lượng rò rỉ cấp thực thể; bộ đánh giá chuẩn hoá,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còn 0.933;</a:t>
            </a:r>
          </a:p>
          <a:p>
            <a:pPr marL="228600" indent="-228600">
              <a:buChar char="•"/>
            </a:pPr>
            <a:r>
              <a:rPr lang="vi-VN" sz="1400" b="0" dirty="0"/>
              <a:t>LOCO tính được AUROC trên cả 8/8 công ty (trung bình 0.628)</a:t>
            </a:r>
          </a:p>
          <a:p>
            <a:pPr marL="228600" indent="-228600">
              <a:buChar char="•"/>
            </a:pPr>
            <a:r>
              <a:rPr lang="vi-VN" sz="1400" b="0" dirty="0"/>
              <a:t>Hướng đi: thêm 50–100 công ty, nhãn công khai có cơ sở học thuật, walk-forward/survival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